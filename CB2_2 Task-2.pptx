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Default Extension="fntdata" ContentType="application/x-fontdata"/>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tableStyles.xml" ContentType="application/vnd.openxmlformats-officedocument.presentationml.tableStyles+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64" r:id="rId3"/>
    <p:sldId id="258" r:id="rId4"/>
    <p:sldId id="265" r:id="rId5"/>
    <p:sldId id="266" r:id="rId6"/>
    <p:sldId id="269" r:id="rId7"/>
    <p:sldId id="270" r:id="rId8"/>
    <p:sldId id="268" r:id="rId9"/>
    <p:sldId id="261" r:id="rId10"/>
    <p:sldId id="262" r:id="rId11"/>
  </p:sldIdLst>
  <p:sldSz cx="9144000" cy="5143500" type="screen16x9"/>
  <p:notesSz cx="9144000" cy="5143500"/>
  <p:embeddedFontLst>
    <p:embeddedFont>
      <p:font typeface="Calibri" pitchFamily="34" charset="0"/>
      <p:regular r:id="rId12"/>
      <p:bold r:id="rId13"/>
      <p:italic r:id="rId14"/>
      <p:boldItalic r:id="rId15"/>
    </p:embeddedFont>
    <p:embeddedFont>
      <p:font typeface="CHCNIJ+PublicSans-Bold"/>
      <p:regular r:id="rId16"/>
    </p:embeddedFont>
    <p:embeddedFont>
      <p:font typeface="Public Sans" charset="0"/>
      <p:regular r:id="rId17"/>
      <p:bold r:id="rId18"/>
      <p:italic r:id="rId19"/>
      <p:boldItalic r:id="rId20"/>
    </p:embeddedFont>
    <p:embeddedFont>
      <p:font typeface="CSBFGQ+EBGaramond-Bold"/>
      <p:regular r:id="rId21"/>
    </p:embeddedFont>
    <p:embeddedFont>
      <p:font typeface="SJNKRS+ArialMT"/>
      <p:regular r:id="rId22"/>
    </p:embeddedFont>
    <p:embeddedFont>
      <p:font typeface="IDNLAK+EBGaramond-Medium"/>
      <p:regular r:id="rId23"/>
    </p:embeddedFont>
    <p:embeddedFont>
      <p:font typeface="LNEEUU+EBGaramond-Regular"/>
      <p:regular r:id="rId24"/>
    </p:embeddedFont>
    <p:embeddedFont>
      <p:font typeface="SLFRMA+PublicSans-BoldItalic"/>
      <p:regular r:id="rId25"/>
    </p:embeddedFont>
    <p:embeddedFont>
      <p:font typeface="EB Garamond SemiBold" charset="0"/>
      <p:regular r:id="rId26"/>
      <p:bold r:id="rId27"/>
      <p:italic r:id="rId28"/>
      <p:boldItalic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110" d="100"/>
          <a:sy n="110" d="100"/>
        </p:scale>
        <p:origin x="-658" y="-72"/>
      </p:cViewPr>
      <p:guideLst>
        <p:guide orient="horz" pos="3168"/>
        <p:guide pos="2448"/>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26" Type="http://schemas.openxmlformats.org/officeDocument/2006/relationships/font" Target="fonts/font15.fntdata"/><Relationship Id="rId3" Type="http://schemas.openxmlformats.org/officeDocument/2006/relationships/slide" Target="slides/slide2.xml"/><Relationship Id="rId21" Type="http://schemas.openxmlformats.org/officeDocument/2006/relationships/font" Target="fonts/font10.fntdata"/><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5" Type="http://schemas.openxmlformats.org/officeDocument/2006/relationships/font" Target="fonts/font14.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font" Target="fonts/font9.fntdata"/><Relationship Id="rId29" Type="http://schemas.openxmlformats.org/officeDocument/2006/relationships/font" Target="fonts/font1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3.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font" Target="fonts/font12.fntdata"/><Relationship Id="rId28" Type="http://schemas.openxmlformats.org/officeDocument/2006/relationships/font" Target="fonts/font17.fntdata"/><Relationship Id="rId10" Type="http://schemas.openxmlformats.org/officeDocument/2006/relationships/slide" Target="slides/slide9.xml"/><Relationship Id="rId19" Type="http://schemas.openxmlformats.org/officeDocument/2006/relationships/font" Target="fonts/font8.fntdata"/><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font" Target="fonts/font11.fntdata"/><Relationship Id="rId27" Type="http://schemas.openxmlformats.org/officeDocument/2006/relationships/font" Target="fonts/font16.fntdata"/><Relationship Id="rId30"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Header 1"/>
          <p:cNvSpPr>
            <a:spLocks noGrp="1"/>
          </p:cNvSpPr>
          <p:nvPr>
            <p:ph type="title"/>
          </p:nvPr>
        </p:nvSpPr>
        <p:spPr/>
        <p:txBody>
          <a:bodyPr/>
          <a:lstStyle/>
          <a:p>
            <a:r>
              <a:rPr lang="en-US" smtClean="0"/>
              <a:t>Title</a:t>
            </a:r>
            <a:endParaRPr lang="en-US"/>
          </a:p>
        </p:txBody>
      </p:sp>
      <p:sp>
        <p:nvSpPr>
          <p:cNvPr id="3" name="Text 2"/>
          <p:cNvSpPr>
            <a:spLocks noGrp="1"/>
          </p:cNvSpPr>
          <p:nvPr>
            <p:ph type="body" idx="1"/>
          </p:nvPr>
        </p:nvSpPr>
        <p:spPr/>
        <p:txBody>
          <a:bodyPr/>
          <a:lstStyle/>
          <a:p>
            <a:pPr lvl="0"/>
            <a:r>
              <a:rPr lang="en-US" smtClean="0"/>
              <a:t>Text</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3"/>
          <p:cNvSpPr>
            <a:spLocks noGrp="1"/>
          </p:cNvSpPr>
          <p:nvPr>
            <p:ph type="dt" sz="half" idx="10"/>
          </p:nvPr>
        </p:nvSpPr>
        <p:spPr/>
        <p:txBody>
          <a:bodyPr/>
          <a:lstStyle/>
          <a:p>
            <a:fld id="{C16525B2-4347-4F72-BAF7-76B19438D329}" type="datetimeFigureOut">
              <a:rPr lang="en-US" smtClean="0"/>
              <a:pPr/>
              <a:t>11/4/2023</a:t>
            </a:fld>
            <a:endParaRPr lang="en-US"/>
          </a:p>
        </p:txBody>
      </p:sp>
      <p:sp>
        <p:nvSpPr>
          <p:cNvPr id="5" name="Footer 4"/>
          <p:cNvSpPr>
            <a:spLocks noGrp="1"/>
          </p:cNvSpPr>
          <p:nvPr>
            <p:ph type="ftr" sz="quarter" idx="11"/>
          </p:nvPr>
        </p:nvSpPr>
        <p:spPr/>
        <p:txBody>
          <a:bodyPr/>
          <a:lstStyle/>
          <a:p>
            <a:endParaRPr lang="en-US"/>
          </a:p>
        </p:txBody>
      </p:sp>
      <p:sp>
        <p:nvSpPr>
          <p:cNvPr id="6" name="Slide number 5"/>
          <p:cNvSpPr>
            <a:spLocks noGrp="1"/>
          </p:cNvSpPr>
          <p:nvPr>
            <p:ph type="sldNum" sz="quarter" idx="12"/>
          </p:nvPr>
        </p:nvSpPr>
        <p:spPr/>
        <p:txBody>
          <a:bodyPr/>
          <a:lstStyle/>
          <a:p>
            <a:fld id="{80F073CC-40D5-4B23-8DF0-9BD0A0C12F2C}"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10"/>
        <p:cNvGrpSpPr/>
        <p:nvPr/>
      </p:nvGrpSpPr>
      <p:grpSpPr>
        <a:xfrm>
          <a:off x="0" y="0"/>
          <a:ext cx="0" cy="0"/>
          <a:chOff x="0" y="0"/>
          <a:chExt cx="0" cy="0"/>
        </a:xfrm>
      </p:grpSpPr>
      <p:pic>
        <p:nvPicPr>
          <p:cNvPr id="11" name="Google Shape;11;p215" descr="A picture containing person, computer, indoor&#10;&#10;Description automatically generated"/>
          <p:cNvPicPr preferRelativeResize="0"/>
          <p:nvPr/>
        </p:nvPicPr>
        <p:blipFill rotWithShape="1">
          <a:blip r:embed="rId2">
            <a:alphaModFix/>
          </a:blip>
          <a:srcRect r="11110"/>
          <a:stretch/>
        </p:blipFill>
        <p:spPr>
          <a:xfrm flipH="1">
            <a:off x="0" y="0"/>
            <a:ext cx="9144000" cy="5143494"/>
          </a:xfrm>
          <a:prstGeom prst="rect">
            <a:avLst/>
          </a:prstGeom>
          <a:noFill/>
          <a:ln>
            <a:noFill/>
          </a:ln>
        </p:spPr>
      </p:pic>
      <p:pic>
        <p:nvPicPr>
          <p:cNvPr id="12" name="Google Shape;12;p215" descr="Shape&#10;&#10;Description automatically generated with low confidence"/>
          <p:cNvPicPr preferRelativeResize="0"/>
          <p:nvPr/>
        </p:nvPicPr>
        <p:blipFill rotWithShape="1">
          <a:blip r:embed="rId3">
            <a:alphaModFix/>
          </a:blip>
          <a:srcRect/>
          <a:stretch/>
        </p:blipFill>
        <p:spPr>
          <a:xfrm>
            <a:off x="0" y="6"/>
            <a:ext cx="9143990" cy="5148000"/>
          </a:xfrm>
          <a:prstGeom prst="rect">
            <a:avLst/>
          </a:prstGeom>
          <a:noFill/>
          <a:ln>
            <a:noFill/>
          </a:ln>
        </p:spPr>
      </p:pic>
      <p:sp>
        <p:nvSpPr>
          <p:cNvPr id="13" name="Google Shape;13;p215"/>
          <p:cNvSpPr/>
          <p:nvPr/>
        </p:nvSpPr>
        <p:spPr>
          <a:xfrm>
            <a:off x="0" y="638171"/>
            <a:ext cx="4734046" cy="4030832"/>
          </a:xfrm>
          <a:prstGeom prst="rect">
            <a:avLst/>
          </a:prstGeom>
          <a:solidFill>
            <a:schemeClr val="dk2"/>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chemeClr val="dk1"/>
              </a:buClr>
              <a:buSzPts val="1800"/>
              <a:buFont typeface="Calibri"/>
              <a:buNone/>
            </a:pPr>
            <a:endParaRPr sz="1800" b="0" i="0" u="none" strike="noStrike" cap="none">
              <a:solidFill>
                <a:schemeClr val="lt1"/>
              </a:solidFill>
              <a:latin typeface="Arial"/>
              <a:ea typeface="Arial"/>
              <a:cs typeface="Arial"/>
              <a:sym typeface="Arial"/>
            </a:endParaRPr>
          </a:p>
        </p:txBody>
      </p:sp>
      <p:sp>
        <p:nvSpPr>
          <p:cNvPr id="14" name="Google Shape;14;p215"/>
          <p:cNvSpPr/>
          <p:nvPr/>
        </p:nvSpPr>
        <p:spPr>
          <a:xfrm>
            <a:off x="0" y="819942"/>
            <a:ext cx="144711" cy="323530"/>
          </a:xfrm>
          <a:prstGeom prst="rect">
            <a:avLst/>
          </a:prstGeom>
          <a:solidFill>
            <a:schemeClr val="lt2"/>
          </a:solid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chemeClr val="dk1"/>
              </a:buClr>
              <a:buSzPts val="1800"/>
              <a:buFont typeface="Calibri"/>
              <a:buNone/>
            </a:pPr>
            <a:endParaRPr sz="1800" b="0" i="0" u="none" strike="noStrike" cap="none">
              <a:solidFill>
                <a:schemeClr val="lt1"/>
              </a:solidFill>
              <a:latin typeface="Arial"/>
              <a:ea typeface="Arial"/>
              <a:cs typeface="Arial"/>
              <a:sym typeface="Arial"/>
            </a:endParaRPr>
          </a:p>
        </p:txBody>
      </p:sp>
      <p:sp>
        <p:nvSpPr>
          <p:cNvPr id="15" name="Google Shape;15;p215"/>
          <p:cNvSpPr txBox="1">
            <a:spLocks noGrp="1"/>
          </p:cNvSpPr>
          <p:nvPr>
            <p:ph type="title"/>
          </p:nvPr>
        </p:nvSpPr>
        <p:spPr>
          <a:xfrm>
            <a:off x="144711" y="810810"/>
            <a:ext cx="3421450" cy="344091"/>
          </a:xfrm>
          <a:prstGeom prst="rect">
            <a:avLst/>
          </a:prstGeom>
          <a:noFill/>
          <a:ln>
            <a:noFill/>
          </a:ln>
        </p:spPr>
        <p:txBody>
          <a:bodyPr spcFirstLastPara="1" wrap="square" lIns="90000" tIns="45700" rIns="91425" bIns="45700" anchor="ctr" anchorCtr="0">
            <a:normAutofit/>
          </a:bodyPr>
          <a:lstStyle>
            <a:lvl1pPr marR="0" lvl="0" algn="l" rtl="0">
              <a:lnSpc>
                <a:spcPct val="100000"/>
              </a:lnSpc>
              <a:spcBef>
                <a:spcPts val="0"/>
              </a:spcBef>
              <a:spcAft>
                <a:spcPts val="0"/>
              </a:spcAft>
              <a:buClr>
                <a:schemeClr val="lt1"/>
              </a:buClr>
              <a:buSzPts val="1700"/>
              <a:buFont typeface="Public Sans"/>
              <a:buNone/>
              <a:defRPr sz="1700" b="1" i="0" u="none" strike="noStrike" cap="none">
                <a:solidFill>
                  <a:schemeClr val="lt1"/>
                </a:solidFill>
                <a:latin typeface="Public Sans"/>
                <a:ea typeface="Public Sans"/>
                <a:cs typeface="Public Sans"/>
                <a:sym typeface="Public Sans"/>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6" name="Google Shape;16;p215"/>
          <p:cNvSpPr txBox="1">
            <a:spLocks noGrp="1"/>
          </p:cNvSpPr>
          <p:nvPr>
            <p:ph type="body" idx="1"/>
          </p:nvPr>
        </p:nvSpPr>
        <p:spPr>
          <a:xfrm>
            <a:off x="144711" y="1295658"/>
            <a:ext cx="4343206" cy="3036421"/>
          </a:xfrm>
          <a:prstGeom prst="rect">
            <a:avLst/>
          </a:prstGeom>
          <a:noFill/>
          <a:ln>
            <a:noFill/>
          </a:ln>
        </p:spPr>
        <p:txBody>
          <a:bodyPr spcFirstLastPara="1" wrap="square" lIns="91425" tIns="45700" rIns="91425" bIns="45700" anchor="t" anchorCtr="0">
            <a:noAutofit/>
          </a:bodyPr>
          <a:lstStyle>
            <a:lvl1pPr marL="457200" marR="0" lvl="0" indent="-317500" algn="l" rtl="0">
              <a:lnSpc>
                <a:spcPct val="100000"/>
              </a:lnSpc>
              <a:spcBef>
                <a:spcPts val="0"/>
              </a:spcBef>
              <a:spcAft>
                <a:spcPts val="0"/>
              </a:spcAft>
              <a:buClr>
                <a:schemeClr val="lt1"/>
              </a:buClr>
              <a:buSzPts val="1400"/>
              <a:buFont typeface="Noto Sans Symbols"/>
              <a:buChar char="▪"/>
              <a:defRPr sz="1400" b="0" i="0" u="none" strike="noStrike" cap="none">
                <a:solidFill>
                  <a:schemeClr val="lt1"/>
                </a:solidFill>
                <a:latin typeface="Public Sans"/>
                <a:ea typeface="Public Sans"/>
                <a:cs typeface="Public Sans"/>
                <a:sym typeface="Public Sans"/>
              </a:defRPr>
            </a:lvl1pPr>
            <a:lvl2pPr marL="914400" marR="0" lvl="1" indent="-228600" algn="l" rtl="0">
              <a:lnSpc>
                <a:spcPct val="100000"/>
              </a:lnSpc>
              <a:spcBef>
                <a:spcPts val="0"/>
              </a:spcBef>
              <a:spcAft>
                <a:spcPts val="0"/>
              </a:spcAft>
              <a:buClr>
                <a:srgbClr val="000000"/>
              </a:buClr>
              <a:buSzPts val="1400"/>
              <a:buFont typeface="Arial"/>
              <a:buNone/>
              <a:defRPr sz="2400" b="1" i="0" u="none" strike="noStrike" cap="none">
                <a:solidFill>
                  <a:schemeClr val="dk2"/>
                </a:solidFill>
                <a:latin typeface="Public Sans"/>
                <a:ea typeface="Public Sans"/>
                <a:cs typeface="Public Sans"/>
                <a:sym typeface="Public Sans"/>
              </a:defRPr>
            </a:lvl2pPr>
            <a:lvl3pPr marL="1371600" marR="0" lvl="2" indent="-228600" algn="l" rtl="0">
              <a:lnSpc>
                <a:spcPct val="100000"/>
              </a:lnSpc>
              <a:spcBef>
                <a:spcPts val="0"/>
              </a:spcBef>
              <a:spcAft>
                <a:spcPts val="0"/>
              </a:spcAft>
              <a:buClr>
                <a:srgbClr val="000000"/>
              </a:buClr>
              <a:buSzPts val="1400"/>
              <a:buFont typeface="Arial"/>
              <a:buNone/>
              <a:defRPr sz="2400" b="1" i="0" u="none" strike="noStrike" cap="none">
                <a:solidFill>
                  <a:schemeClr val="dk2"/>
                </a:solidFill>
                <a:latin typeface="Public Sans"/>
                <a:ea typeface="Public Sans"/>
                <a:cs typeface="Public Sans"/>
                <a:sym typeface="Public Sans"/>
              </a:defRPr>
            </a:lvl3pPr>
            <a:lvl4pPr marL="1828800" marR="0" lvl="3" indent="-228600" algn="l" rtl="0">
              <a:lnSpc>
                <a:spcPct val="100000"/>
              </a:lnSpc>
              <a:spcBef>
                <a:spcPts val="0"/>
              </a:spcBef>
              <a:spcAft>
                <a:spcPts val="0"/>
              </a:spcAft>
              <a:buClr>
                <a:srgbClr val="000000"/>
              </a:buClr>
              <a:buSzPts val="1400"/>
              <a:buFont typeface="Arial"/>
              <a:buNone/>
              <a:defRPr sz="2400" b="1" i="0" u="none" strike="noStrike" cap="none">
                <a:solidFill>
                  <a:schemeClr val="dk2"/>
                </a:solidFill>
                <a:latin typeface="Public Sans"/>
                <a:ea typeface="Public Sans"/>
                <a:cs typeface="Public Sans"/>
                <a:sym typeface="Public Sans"/>
              </a:defRPr>
            </a:lvl4pPr>
            <a:lvl5pPr marL="2286000" marR="0" lvl="4" indent="-228600" algn="l" rtl="0">
              <a:lnSpc>
                <a:spcPct val="100000"/>
              </a:lnSpc>
              <a:spcBef>
                <a:spcPts val="0"/>
              </a:spcBef>
              <a:spcAft>
                <a:spcPts val="0"/>
              </a:spcAft>
              <a:buClr>
                <a:srgbClr val="000000"/>
              </a:buClr>
              <a:buSzPts val="1400"/>
              <a:buFont typeface="Arial"/>
              <a:buNone/>
              <a:defRPr sz="2400" b="1" i="0" u="none" strike="noStrike" cap="none">
                <a:solidFill>
                  <a:schemeClr val="dk2"/>
                </a:solidFill>
                <a:latin typeface="Public Sans"/>
                <a:ea typeface="Public Sans"/>
                <a:cs typeface="Public Sans"/>
                <a:sym typeface="Public Sans"/>
              </a:defRPr>
            </a:lvl5pPr>
            <a:lvl6pPr marL="2743200" marR="0" lvl="5"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77666" y="427735"/>
            <a:ext cx="6797992" cy="1710943"/>
          </a:xfrm>
          <a:prstGeom prst="rect">
            <a:avLst/>
          </a:prstGeom>
        </p:spPr>
        <p:txBody>
          <a:bodyPr wrap="square" lIns="0" tIns="0" rIns="0" bIns="0">
            <a:spAutoFit/>
          </a:bodyPr>
          <a:lstStyle>
            <a:lvl1pPr>
              <a:defRPr/>
            </a:lvl1pPr>
          </a:lstStyle>
          <a:p>
            <a:endParaRPr/>
          </a:p>
        </p:txBody>
      </p:sp>
      <p:sp>
        <p:nvSpPr>
          <p:cNvPr id="3" name="Holder 3"/>
          <p:cNvSpPr>
            <a:spLocks noGrp="1"/>
          </p:cNvSpPr>
          <p:nvPr>
            <p:ph type="body" idx="1"/>
          </p:nvPr>
        </p:nvSpPr>
        <p:spPr>
          <a:xfrm>
            <a:off x="377666" y="2459482"/>
            <a:ext cx="6797992" cy="7057644"/>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2568130" y="9944862"/>
            <a:ext cx="2417063" cy="53467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377666" y="9944862"/>
            <a:ext cx="1737264" cy="53467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pPr/>
              <a:t>11/4/2023</a:t>
            </a:fld>
            <a:endParaRPr lang="en-US"/>
          </a:p>
        </p:txBody>
      </p:sp>
      <p:sp>
        <p:nvSpPr>
          <p:cNvPr id="6" name="Holder 6"/>
          <p:cNvSpPr>
            <a:spLocks noGrp="1"/>
          </p:cNvSpPr>
          <p:nvPr>
            <p:ph type="sldNum" sz="quarter" idx="7"/>
          </p:nvPr>
        </p:nvSpPr>
        <p:spPr>
          <a:xfrm>
            <a:off x="5438394" y="9944862"/>
            <a:ext cx="1737264" cy="53467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pPr/>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9144000" cy="51435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352680" y="2692811"/>
            <a:ext cx="3182416" cy="1116664"/>
          </a:xfrm>
          <a:prstGeom prst="rect">
            <a:avLst/>
          </a:prstGeom>
        </p:spPr>
        <p:txBody>
          <a:bodyPr vert="horz" wrap="square" lIns="0" tIns="0" rIns="0" bIns="0" rtlCol="0">
            <a:spAutoFit/>
          </a:bodyPr>
          <a:lstStyle/>
          <a:p>
            <a:pPr marL="0" marR="0">
              <a:lnSpc>
                <a:spcPts val="2819"/>
              </a:lnSpc>
              <a:spcBef>
                <a:spcPts val="0"/>
              </a:spcBef>
              <a:spcAft>
                <a:spcPts val="0"/>
              </a:spcAft>
            </a:pPr>
            <a:r>
              <a:rPr lang="en-US" sz="2400" b="1" dirty="0" smtClean="0">
                <a:solidFill>
                  <a:srgbClr val="223669"/>
                </a:solidFill>
                <a:latin typeface="CHCNIJ+PublicSans-Bold"/>
                <a:cs typeface="CHCNIJ+PublicSans-Bold"/>
              </a:rPr>
              <a:t>Social Media Website</a:t>
            </a:r>
            <a:endParaRPr sz="2400" b="1" dirty="0">
              <a:solidFill>
                <a:srgbClr val="223669"/>
              </a:solidFill>
              <a:latin typeface="CHCNIJ+PublicSans-Bold"/>
              <a:cs typeface="CHCNIJ+PublicSans-Bold"/>
            </a:endParaRPr>
          </a:p>
          <a:p>
            <a:pPr marL="12" marR="0">
              <a:lnSpc>
                <a:spcPts val="2819"/>
              </a:lnSpc>
              <a:spcBef>
                <a:spcPts val="2852"/>
              </a:spcBef>
              <a:spcAft>
                <a:spcPts val="0"/>
              </a:spcAft>
            </a:pPr>
            <a:r>
              <a:rPr sz="2400" b="1" dirty="0">
                <a:solidFill>
                  <a:srgbClr val="223669"/>
                </a:solidFill>
                <a:latin typeface="CHCNIJ+PublicSans-Bold"/>
                <a:cs typeface="CHCNIJ+PublicSans-Bold"/>
              </a:rPr>
              <a:t>Task - 2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Social Media Website</a:t>
            </a:r>
            <a:endParaRPr lang="en-US" dirty="0"/>
          </a:p>
        </p:txBody>
      </p:sp>
      <p:sp>
        <p:nvSpPr>
          <p:cNvPr id="3" name="Text Placeholder 2"/>
          <p:cNvSpPr>
            <a:spLocks noGrp="1"/>
          </p:cNvSpPr>
          <p:nvPr>
            <p:ph type="body" idx="1"/>
          </p:nvPr>
        </p:nvSpPr>
        <p:spPr/>
        <p:txBody>
          <a:bodyPr/>
          <a:lstStyle/>
          <a:p>
            <a:pPr>
              <a:buNone/>
            </a:pPr>
            <a:endParaRPr lang="en-US" dirty="0" smtClean="0"/>
          </a:p>
          <a:p>
            <a:pPr>
              <a:buNone/>
            </a:pPr>
            <a:endParaRPr lang="en-US" dirty="0"/>
          </a:p>
        </p:txBody>
      </p:sp>
      <p:graphicFrame>
        <p:nvGraphicFramePr>
          <p:cNvPr id="5" name="Table 4"/>
          <p:cNvGraphicFramePr>
            <a:graphicFrameLocks noGrp="1"/>
          </p:cNvGraphicFramePr>
          <p:nvPr/>
        </p:nvGraphicFramePr>
        <p:xfrm>
          <a:off x="0" y="1928808"/>
          <a:ext cx="4643438" cy="2714645"/>
        </p:xfrm>
        <a:graphic>
          <a:graphicData uri="http://schemas.openxmlformats.org/drawingml/2006/table">
            <a:tbl>
              <a:tblPr firstRow="1" bandRow="1"/>
              <a:tblGrid>
                <a:gridCol w="1857356"/>
                <a:gridCol w="1500198"/>
                <a:gridCol w="1285884"/>
              </a:tblGrid>
              <a:tr h="506309">
                <a:tc>
                  <a:txBody>
                    <a:bodyPr/>
                    <a:lstStyle/>
                    <a:p>
                      <a:r>
                        <a:rPr lang="en-US" dirty="0" smtClean="0">
                          <a:solidFill>
                            <a:schemeClr val="accent6">
                              <a:lumMod val="75000"/>
                            </a:schemeClr>
                          </a:solidFill>
                        </a:rPr>
                        <a:t>LMS</a:t>
                      </a:r>
                      <a:r>
                        <a:rPr lang="en-US" baseline="0" dirty="0" smtClean="0">
                          <a:solidFill>
                            <a:schemeClr val="accent6">
                              <a:lumMod val="75000"/>
                            </a:schemeClr>
                          </a:solidFill>
                        </a:rPr>
                        <a:t> username</a:t>
                      </a:r>
                      <a:endParaRPr lang="en-US" dirty="0">
                        <a:solidFill>
                          <a:schemeClr val="accent6">
                            <a:lumMod val="75000"/>
                          </a:schemeClr>
                        </a:solidFill>
                      </a:endParaRPr>
                    </a:p>
                  </a:txBody>
                  <a:tcPr/>
                </a:tc>
                <a:tc>
                  <a:txBody>
                    <a:bodyPr/>
                    <a:lstStyle/>
                    <a:p>
                      <a:r>
                        <a:rPr lang="en-US" dirty="0" smtClean="0">
                          <a:solidFill>
                            <a:schemeClr val="accent6">
                              <a:lumMod val="75000"/>
                            </a:schemeClr>
                          </a:solidFill>
                        </a:rPr>
                        <a:t>Name</a:t>
                      </a:r>
                      <a:endParaRPr lang="en-US" dirty="0">
                        <a:solidFill>
                          <a:schemeClr val="accent6">
                            <a:lumMod val="75000"/>
                          </a:schemeClr>
                        </a:solidFill>
                      </a:endParaRPr>
                    </a:p>
                  </a:txBody>
                  <a:tcPr/>
                </a:tc>
                <a:tc>
                  <a:txBody>
                    <a:bodyPr/>
                    <a:lstStyle/>
                    <a:p>
                      <a:r>
                        <a:rPr lang="en-US" dirty="0" smtClean="0">
                          <a:solidFill>
                            <a:schemeClr val="accent6">
                              <a:lumMod val="75000"/>
                            </a:schemeClr>
                          </a:solidFill>
                        </a:rPr>
                        <a:t>Batch</a:t>
                      </a:r>
                      <a:endParaRPr lang="en-US" dirty="0">
                        <a:solidFill>
                          <a:schemeClr val="accent6">
                            <a:lumMod val="75000"/>
                          </a:schemeClr>
                        </a:solidFill>
                      </a:endParaRPr>
                    </a:p>
                  </a:txBody>
                  <a:tcPr/>
                </a:tc>
              </a:tr>
              <a:tr h="552084">
                <a:tc>
                  <a:txBody>
                    <a:bodyPr/>
                    <a:lstStyle/>
                    <a:p>
                      <a:r>
                        <a:rPr lang="en-US" dirty="0" smtClean="0">
                          <a:solidFill>
                            <a:srgbClr val="92D050"/>
                          </a:solidFill>
                        </a:rPr>
                        <a:t>Au612820104026</a:t>
                      </a:r>
                      <a:endParaRPr lang="en-US" dirty="0">
                        <a:solidFill>
                          <a:srgbClr val="92D050"/>
                        </a:solidFill>
                      </a:endParaRPr>
                    </a:p>
                  </a:txBody>
                  <a:tcPr/>
                </a:tc>
                <a:tc>
                  <a:txBody>
                    <a:bodyPr/>
                    <a:lstStyle/>
                    <a:p>
                      <a:r>
                        <a:rPr lang="en-US" dirty="0" err="1" smtClean="0">
                          <a:solidFill>
                            <a:srgbClr val="92D050"/>
                          </a:solidFill>
                        </a:rPr>
                        <a:t>Santhosh</a:t>
                      </a:r>
                      <a:r>
                        <a:rPr lang="en-US" baseline="0" dirty="0" smtClean="0">
                          <a:solidFill>
                            <a:srgbClr val="92D050"/>
                          </a:solidFill>
                        </a:rPr>
                        <a:t> M</a:t>
                      </a:r>
                      <a:endParaRPr lang="en-US" dirty="0">
                        <a:solidFill>
                          <a:srgbClr val="92D050"/>
                        </a:solidFill>
                      </a:endParaRPr>
                    </a:p>
                  </a:txBody>
                  <a:tcPr/>
                </a:tc>
                <a:tc>
                  <a:txBody>
                    <a:bodyPr/>
                    <a:lstStyle/>
                    <a:p>
                      <a:r>
                        <a:rPr lang="en-US" dirty="0" smtClean="0">
                          <a:solidFill>
                            <a:srgbClr val="92D050"/>
                          </a:solidFill>
                        </a:rPr>
                        <a:t>CB2_2</a:t>
                      </a:r>
                      <a:endParaRPr lang="en-US" dirty="0">
                        <a:solidFill>
                          <a:srgbClr val="92D050"/>
                        </a:solidFill>
                      </a:endParaRPr>
                    </a:p>
                  </a:txBody>
                  <a:tcPr/>
                </a:tc>
              </a:tr>
              <a:tr h="552084">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smtClean="0">
                          <a:solidFill>
                            <a:srgbClr val="92D050"/>
                          </a:solidFill>
                        </a:rPr>
                        <a:t>au612820104004</a:t>
                      </a:r>
                      <a:endParaRPr lang="en-US" dirty="0" smtClean="0">
                        <a:solidFill>
                          <a:srgbClr val="92D050"/>
                        </a:solidFill>
                      </a:endParaRPr>
                    </a:p>
                  </a:txBody>
                  <a:tcPr/>
                </a:tc>
                <a:tc>
                  <a:txBody>
                    <a:bodyPr/>
                    <a:lstStyle/>
                    <a:p>
                      <a:r>
                        <a:rPr lang="en-US" dirty="0" err="1" smtClean="0">
                          <a:solidFill>
                            <a:srgbClr val="92D050"/>
                          </a:solidFill>
                        </a:rPr>
                        <a:t>Anbu</a:t>
                      </a:r>
                      <a:r>
                        <a:rPr lang="en-US" dirty="0" smtClean="0">
                          <a:solidFill>
                            <a:srgbClr val="92D050"/>
                          </a:solidFill>
                        </a:rPr>
                        <a:t> S</a:t>
                      </a:r>
                      <a:endParaRPr lang="en-US" dirty="0">
                        <a:solidFill>
                          <a:srgbClr val="92D050"/>
                        </a:solidFill>
                      </a:endParaRPr>
                    </a:p>
                  </a:txBody>
                  <a:tcPr/>
                </a:tc>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smtClean="0">
                          <a:solidFill>
                            <a:srgbClr val="92D050"/>
                          </a:solidFill>
                        </a:rPr>
                        <a:t>CB2_2</a:t>
                      </a:r>
                    </a:p>
                  </a:txBody>
                  <a:tcPr/>
                </a:tc>
              </a:tr>
              <a:tr h="552084">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smtClean="0">
                          <a:solidFill>
                            <a:srgbClr val="92D050"/>
                          </a:solidFill>
                        </a:rPr>
                        <a:t>au612820104015</a:t>
                      </a:r>
                      <a:endParaRPr lang="en-US" dirty="0" smtClean="0">
                        <a:solidFill>
                          <a:srgbClr val="92D050"/>
                        </a:solidFill>
                      </a:endParaRPr>
                    </a:p>
                  </a:txBody>
                  <a:tcPr/>
                </a:tc>
                <a:tc>
                  <a:txBody>
                    <a:bodyPr/>
                    <a:lstStyle/>
                    <a:p>
                      <a:r>
                        <a:rPr lang="en-US" baseline="0" dirty="0" err="1" smtClean="0">
                          <a:solidFill>
                            <a:srgbClr val="92D050"/>
                          </a:solidFill>
                        </a:rPr>
                        <a:t>Parthibaraj</a:t>
                      </a:r>
                      <a:r>
                        <a:rPr lang="en-US" baseline="0" dirty="0" smtClean="0">
                          <a:solidFill>
                            <a:srgbClr val="92D050"/>
                          </a:solidFill>
                        </a:rPr>
                        <a:t> A</a:t>
                      </a:r>
                      <a:endParaRPr lang="en-US" dirty="0">
                        <a:solidFill>
                          <a:srgbClr val="92D050"/>
                        </a:solidFill>
                      </a:endParaRPr>
                    </a:p>
                  </a:txBody>
                  <a:tcPr/>
                </a:tc>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smtClean="0">
                          <a:solidFill>
                            <a:srgbClr val="92D050"/>
                          </a:solidFill>
                        </a:rPr>
                        <a:t>CB2_2</a:t>
                      </a:r>
                    </a:p>
                  </a:txBody>
                  <a:tcPr/>
                </a:tc>
              </a:tr>
              <a:tr h="552084">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smtClean="0">
                          <a:solidFill>
                            <a:srgbClr val="92D050"/>
                          </a:solidFill>
                        </a:rPr>
                        <a:t>au612820104032</a:t>
                      </a:r>
                      <a:endParaRPr lang="en-US" dirty="0" smtClean="0">
                        <a:solidFill>
                          <a:srgbClr val="92D050"/>
                        </a:solidFill>
                      </a:endParaRPr>
                    </a:p>
                  </a:txBody>
                  <a:tcPr/>
                </a:tc>
                <a:tc>
                  <a:txBody>
                    <a:bodyPr/>
                    <a:lstStyle/>
                    <a:p>
                      <a:r>
                        <a:rPr lang="en-US" dirty="0" err="1" smtClean="0">
                          <a:solidFill>
                            <a:srgbClr val="92D050"/>
                          </a:solidFill>
                        </a:rPr>
                        <a:t>Srikanth</a:t>
                      </a:r>
                      <a:r>
                        <a:rPr lang="en-US" baseline="0" dirty="0" smtClean="0">
                          <a:solidFill>
                            <a:srgbClr val="92D050"/>
                          </a:solidFill>
                        </a:rPr>
                        <a:t> D</a:t>
                      </a:r>
                      <a:endParaRPr lang="en-US" dirty="0">
                        <a:solidFill>
                          <a:srgbClr val="92D050"/>
                        </a:solidFill>
                      </a:endParaRPr>
                    </a:p>
                  </a:txBody>
                  <a:tcPr/>
                </a:tc>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smtClean="0">
                          <a:solidFill>
                            <a:srgbClr val="92D050"/>
                          </a:solidFill>
                        </a:rPr>
                        <a:t>CB2_2</a:t>
                      </a:r>
                    </a:p>
                  </a:txBody>
                  <a:tcPr/>
                </a:tc>
              </a:tr>
            </a:tbl>
          </a:graphicData>
        </a:graphic>
      </p:graphicFrame>
      <p:sp>
        <p:nvSpPr>
          <p:cNvPr id="6" name="TextBox 5"/>
          <p:cNvSpPr txBox="1"/>
          <p:nvPr/>
        </p:nvSpPr>
        <p:spPr>
          <a:xfrm>
            <a:off x="214282" y="1214428"/>
            <a:ext cx="1752600" cy="369332"/>
          </a:xfrm>
          <a:prstGeom prst="rect">
            <a:avLst/>
          </a:prstGeom>
          <a:noFill/>
        </p:spPr>
        <p:txBody>
          <a:bodyPr wrap="square" rtlCol="0">
            <a:spAutoFit/>
          </a:bodyPr>
          <a:lstStyle/>
          <a:p>
            <a:r>
              <a:rPr lang="en-US" b="1" dirty="0" smtClean="0">
                <a:solidFill>
                  <a:schemeClr val="bg1"/>
                </a:solidFill>
                <a:latin typeface="Times New Roman" pitchFamily="18" charset="0"/>
                <a:cs typeface="Times New Roman" pitchFamily="18" charset="0"/>
              </a:rPr>
              <a:t>CB2_2</a:t>
            </a:r>
            <a:endParaRPr lang="en-US" dirty="0">
              <a:solidFill>
                <a:schemeClr val="bg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9144000" cy="51435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537204" y="264756"/>
            <a:ext cx="920038" cy="335965"/>
          </a:xfrm>
          <a:prstGeom prst="rect">
            <a:avLst/>
          </a:prstGeom>
        </p:spPr>
        <p:txBody>
          <a:bodyPr vert="horz" wrap="square" lIns="0" tIns="0" rIns="0" bIns="0" rtlCol="0">
            <a:spAutoFit/>
          </a:bodyPr>
          <a:lstStyle/>
          <a:p>
            <a:pPr marL="0" marR="0">
              <a:lnSpc>
                <a:spcPts val="2345"/>
              </a:lnSpc>
              <a:spcBef>
                <a:spcPts val="0"/>
              </a:spcBef>
              <a:spcAft>
                <a:spcPts val="0"/>
              </a:spcAft>
            </a:pPr>
            <a:r>
              <a:rPr sz="1800" b="1" spc="-23" dirty="0">
                <a:solidFill>
                  <a:srgbClr val="223669"/>
                </a:solidFill>
                <a:latin typeface="CSBFGQ+EBGaramond-Bold"/>
                <a:cs typeface="CSBFGQ+EBGaramond-Bold"/>
              </a:rPr>
              <a:t>Taskꢀ-ꢀ2</a:t>
            </a:r>
          </a:p>
        </p:txBody>
      </p:sp>
      <p:sp>
        <p:nvSpPr>
          <p:cNvPr id="4" name="object 4"/>
          <p:cNvSpPr txBox="1"/>
          <p:nvPr/>
        </p:nvSpPr>
        <p:spPr>
          <a:xfrm>
            <a:off x="571472" y="635171"/>
            <a:ext cx="2902571" cy="153888"/>
          </a:xfrm>
          <a:prstGeom prst="rect">
            <a:avLst/>
          </a:prstGeom>
        </p:spPr>
        <p:txBody>
          <a:bodyPr vert="horz" wrap="square" lIns="0" tIns="0" rIns="0" bIns="0" rtlCol="0">
            <a:spAutoFit/>
          </a:bodyPr>
          <a:lstStyle/>
          <a:p>
            <a:pPr marL="0" marR="0">
              <a:lnSpc>
                <a:spcPts val="1172"/>
              </a:lnSpc>
              <a:spcBef>
                <a:spcPts val="0"/>
              </a:spcBef>
              <a:spcAft>
                <a:spcPts val="0"/>
              </a:spcAft>
            </a:pPr>
            <a:r>
              <a:rPr sz="900" b="1" dirty="0">
                <a:solidFill>
                  <a:srgbClr val="0B5394"/>
                </a:solidFill>
                <a:latin typeface="CSBFGQ+EBGaramond-Bold"/>
                <a:cs typeface="CSBFGQ+EBGaramond-Bold"/>
              </a:rPr>
              <a:t>CreateꢀUIꢀandꢀimplementꢀvariousꢀcomponentsꢀusingꢀreact</a:t>
            </a:r>
          </a:p>
        </p:txBody>
      </p:sp>
      <p:sp>
        <p:nvSpPr>
          <p:cNvPr id="5" name="object 5"/>
          <p:cNvSpPr txBox="1"/>
          <p:nvPr/>
        </p:nvSpPr>
        <p:spPr>
          <a:xfrm>
            <a:off x="744750" y="942604"/>
            <a:ext cx="221437" cy="461829"/>
          </a:xfrm>
          <a:prstGeom prst="rect">
            <a:avLst/>
          </a:prstGeom>
        </p:spPr>
        <p:txBody>
          <a:bodyPr vert="horz" wrap="square" lIns="0" tIns="0" rIns="0" bIns="0" rtlCol="0">
            <a:spAutoFit/>
          </a:bodyPr>
          <a:lstStyle/>
          <a:p>
            <a:pPr marL="0" marR="0">
              <a:lnSpc>
                <a:spcPts val="1005"/>
              </a:lnSpc>
              <a:spcBef>
                <a:spcPts val="0"/>
              </a:spcBef>
              <a:spcAft>
                <a:spcPts val="0"/>
              </a:spcAft>
            </a:pPr>
            <a:r>
              <a:rPr sz="900" dirty="0">
                <a:solidFill>
                  <a:srgbClr val="000000"/>
                </a:solidFill>
                <a:latin typeface="SJNKRS+ArialMT"/>
                <a:cs typeface="SJNKRS+ArialMT"/>
              </a:rPr>
              <a:t>●</a:t>
            </a:r>
          </a:p>
          <a:p>
            <a:pPr marL="0" marR="0">
              <a:lnSpc>
                <a:spcPts val="1005"/>
              </a:lnSpc>
              <a:spcBef>
                <a:spcPts val="160"/>
              </a:spcBef>
              <a:spcAft>
                <a:spcPts val="0"/>
              </a:spcAft>
            </a:pPr>
            <a:r>
              <a:rPr sz="900" dirty="0">
                <a:solidFill>
                  <a:srgbClr val="000000"/>
                </a:solidFill>
                <a:latin typeface="SJNKRS+ArialMT"/>
                <a:cs typeface="SJNKRS+ArialMT"/>
              </a:rPr>
              <a:t>●</a:t>
            </a:r>
          </a:p>
          <a:p>
            <a:pPr marL="0" marR="0">
              <a:lnSpc>
                <a:spcPts val="1005"/>
              </a:lnSpc>
              <a:spcBef>
                <a:spcPts val="110"/>
              </a:spcBef>
              <a:spcAft>
                <a:spcPts val="0"/>
              </a:spcAft>
            </a:pPr>
            <a:r>
              <a:rPr sz="900" dirty="0">
                <a:solidFill>
                  <a:srgbClr val="000000"/>
                </a:solidFill>
                <a:latin typeface="SJNKRS+ArialMT"/>
                <a:cs typeface="SJNKRS+ArialMT"/>
              </a:rPr>
              <a:t>●</a:t>
            </a:r>
          </a:p>
        </p:txBody>
      </p:sp>
      <p:sp>
        <p:nvSpPr>
          <p:cNvPr id="6" name="object 6"/>
          <p:cNvSpPr txBox="1"/>
          <p:nvPr/>
        </p:nvSpPr>
        <p:spPr>
          <a:xfrm>
            <a:off x="1030500" y="933034"/>
            <a:ext cx="2895943" cy="481125"/>
          </a:xfrm>
          <a:prstGeom prst="rect">
            <a:avLst/>
          </a:prstGeom>
        </p:spPr>
        <p:txBody>
          <a:bodyPr vert="horz" wrap="square" lIns="0" tIns="0" rIns="0" bIns="0" rtlCol="0">
            <a:spAutoFit/>
          </a:bodyPr>
          <a:lstStyle/>
          <a:p>
            <a:pPr marL="0" marR="0">
              <a:lnSpc>
                <a:spcPts val="1157"/>
              </a:lnSpc>
              <a:spcBef>
                <a:spcPts val="0"/>
              </a:spcBef>
              <a:spcAft>
                <a:spcPts val="0"/>
              </a:spcAft>
            </a:pPr>
            <a:r>
              <a:rPr sz="900" dirty="0">
                <a:solidFill>
                  <a:srgbClr val="000000"/>
                </a:solidFill>
                <a:latin typeface="IDNLAK+EBGaramond-Medium"/>
                <a:cs typeface="IDNLAK+EBGaramond-Medium"/>
              </a:rPr>
              <a:t>SplitꢀdesignꢀintoꢀcomponentsꢀandꢀHigherꢀorderꢀComponents</a:t>
            </a:r>
          </a:p>
          <a:p>
            <a:pPr marL="0" marR="0">
              <a:lnSpc>
                <a:spcPts val="1157"/>
              </a:lnSpc>
              <a:spcBef>
                <a:spcPts val="0"/>
              </a:spcBef>
              <a:spcAft>
                <a:spcPts val="0"/>
              </a:spcAft>
            </a:pPr>
            <a:r>
              <a:rPr sz="900" dirty="0">
                <a:solidFill>
                  <a:srgbClr val="000000"/>
                </a:solidFill>
                <a:latin typeface="IDNLAK+EBGaramond-Medium"/>
                <a:cs typeface="IDNLAK+EBGaramond-Medium"/>
              </a:rPr>
              <a:t>Defineꢀstructureꢀofꢀtheꢀcomponents</a:t>
            </a:r>
          </a:p>
          <a:p>
            <a:pPr marL="0" marR="0">
              <a:lnSpc>
                <a:spcPts val="1157"/>
              </a:lnSpc>
              <a:spcBef>
                <a:spcPts val="8"/>
              </a:spcBef>
              <a:spcAft>
                <a:spcPts val="0"/>
              </a:spcAft>
            </a:pPr>
            <a:r>
              <a:rPr sz="900" dirty="0">
                <a:solidFill>
                  <a:srgbClr val="000000"/>
                </a:solidFill>
                <a:latin typeface="IDNLAK+EBGaramond-Medium"/>
                <a:cs typeface="IDNLAK+EBGaramond-Medium"/>
              </a:rPr>
              <a:t>Setꢀtheꢀbasicꢀuiꢀcomponentsꢀwithꢀdummyꢀdata</a:t>
            </a:r>
          </a:p>
        </p:txBody>
      </p:sp>
      <p:sp>
        <p:nvSpPr>
          <p:cNvPr id="7" name="object 7"/>
          <p:cNvSpPr txBox="1"/>
          <p:nvPr/>
        </p:nvSpPr>
        <p:spPr>
          <a:xfrm>
            <a:off x="573300" y="1523276"/>
            <a:ext cx="3581972" cy="187032"/>
          </a:xfrm>
          <a:prstGeom prst="rect">
            <a:avLst/>
          </a:prstGeom>
        </p:spPr>
        <p:txBody>
          <a:bodyPr vert="horz" wrap="square" lIns="0" tIns="0" rIns="0" bIns="0" rtlCol="0">
            <a:spAutoFit/>
          </a:bodyPr>
          <a:lstStyle/>
          <a:p>
            <a:pPr marL="0" marR="0">
              <a:lnSpc>
                <a:spcPts val="1172"/>
              </a:lnSpc>
              <a:spcBef>
                <a:spcPts val="0"/>
              </a:spcBef>
              <a:spcAft>
                <a:spcPts val="0"/>
              </a:spcAft>
            </a:pPr>
            <a:r>
              <a:rPr sz="900" b="1" dirty="0">
                <a:solidFill>
                  <a:srgbClr val="0B5394"/>
                </a:solidFill>
                <a:latin typeface="CSBFGQ+EBGaramond-Bold"/>
                <a:cs typeface="CSBFGQ+EBGaramond-Bold"/>
              </a:rPr>
              <a:t>IntegrateꢀtheꢀAPIsꢀtoꢀfrontendꢀtoꢀensureꢀtheꢀdynamicꢀfeatureꢀofꢀwebsite</a:t>
            </a:r>
          </a:p>
        </p:txBody>
      </p:sp>
      <p:sp>
        <p:nvSpPr>
          <p:cNvPr id="8" name="object 8"/>
          <p:cNvSpPr txBox="1"/>
          <p:nvPr/>
        </p:nvSpPr>
        <p:spPr>
          <a:xfrm>
            <a:off x="744750" y="1830710"/>
            <a:ext cx="221437" cy="757865"/>
          </a:xfrm>
          <a:prstGeom prst="rect">
            <a:avLst/>
          </a:prstGeom>
        </p:spPr>
        <p:txBody>
          <a:bodyPr vert="horz" wrap="square" lIns="0" tIns="0" rIns="0" bIns="0" rtlCol="0">
            <a:spAutoFit/>
          </a:bodyPr>
          <a:lstStyle/>
          <a:p>
            <a:pPr marL="0" marR="0">
              <a:lnSpc>
                <a:spcPts val="1005"/>
              </a:lnSpc>
              <a:spcBef>
                <a:spcPts val="0"/>
              </a:spcBef>
              <a:spcAft>
                <a:spcPts val="0"/>
              </a:spcAft>
            </a:pPr>
            <a:r>
              <a:rPr sz="900" dirty="0">
                <a:solidFill>
                  <a:srgbClr val="000000"/>
                </a:solidFill>
                <a:latin typeface="SJNKRS+ArialMT"/>
                <a:cs typeface="SJNKRS+ArialMT"/>
              </a:rPr>
              <a:t>●</a:t>
            </a:r>
          </a:p>
          <a:p>
            <a:pPr marL="0" marR="0">
              <a:lnSpc>
                <a:spcPts val="1005"/>
              </a:lnSpc>
              <a:spcBef>
                <a:spcPts val="160"/>
              </a:spcBef>
              <a:spcAft>
                <a:spcPts val="0"/>
              </a:spcAft>
            </a:pPr>
            <a:r>
              <a:rPr sz="900" dirty="0">
                <a:solidFill>
                  <a:srgbClr val="000000"/>
                </a:solidFill>
                <a:latin typeface="SJNKRS+ArialMT"/>
                <a:cs typeface="SJNKRS+ArialMT"/>
              </a:rPr>
              <a:t>●</a:t>
            </a:r>
          </a:p>
          <a:p>
            <a:pPr marL="0" marR="0">
              <a:lnSpc>
                <a:spcPts val="1005"/>
              </a:lnSpc>
              <a:spcBef>
                <a:spcPts val="110"/>
              </a:spcBef>
              <a:spcAft>
                <a:spcPts val="0"/>
              </a:spcAft>
            </a:pPr>
            <a:r>
              <a:rPr sz="900" dirty="0">
                <a:solidFill>
                  <a:srgbClr val="000000"/>
                </a:solidFill>
                <a:latin typeface="SJNKRS+ArialMT"/>
                <a:cs typeface="SJNKRS+ArialMT"/>
              </a:rPr>
              <a:t>●</a:t>
            </a:r>
          </a:p>
          <a:p>
            <a:pPr marL="0" marR="0">
              <a:lnSpc>
                <a:spcPts val="1005"/>
              </a:lnSpc>
              <a:spcBef>
                <a:spcPts val="160"/>
              </a:spcBef>
              <a:spcAft>
                <a:spcPts val="0"/>
              </a:spcAft>
            </a:pPr>
            <a:r>
              <a:rPr sz="900" dirty="0">
                <a:solidFill>
                  <a:srgbClr val="000000"/>
                </a:solidFill>
                <a:latin typeface="SJNKRS+ArialMT"/>
                <a:cs typeface="SJNKRS+ArialMT"/>
              </a:rPr>
              <a:t>●</a:t>
            </a:r>
          </a:p>
          <a:p>
            <a:pPr marL="0" marR="0">
              <a:lnSpc>
                <a:spcPts val="1005"/>
              </a:lnSpc>
              <a:spcBef>
                <a:spcPts val="160"/>
              </a:spcBef>
              <a:spcAft>
                <a:spcPts val="0"/>
              </a:spcAft>
            </a:pPr>
            <a:r>
              <a:rPr sz="900" dirty="0">
                <a:solidFill>
                  <a:srgbClr val="000000"/>
                </a:solidFill>
                <a:latin typeface="SJNKRS+ArialMT"/>
                <a:cs typeface="SJNKRS+ArialMT"/>
              </a:rPr>
              <a:t>●</a:t>
            </a:r>
          </a:p>
        </p:txBody>
      </p:sp>
      <p:sp>
        <p:nvSpPr>
          <p:cNvPr id="9" name="object 9"/>
          <p:cNvSpPr txBox="1"/>
          <p:nvPr/>
        </p:nvSpPr>
        <p:spPr>
          <a:xfrm>
            <a:off x="1030500" y="1821140"/>
            <a:ext cx="2693060" cy="777160"/>
          </a:xfrm>
          <a:prstGeom prst="rect">
            <a:avLst/>
          </a:prstGeom>
        </p:spPr>
        <p:txBody>
          <a:bodyPr vert="horz" wrap="square" lIns="0" tIns="0" rIns="0" bIns="0" rtlCol="0">
            <a:spAutoFit/>
          </a:bodyPr>
          <a:lstStyle/>
          <a:p>
            <a:pPr marL="0" marR="0">
              <a:lnSpc>
                <a:spcPts val="1157"/>
              </a:lnSpc>
              <a:spcBef>
                <a:spcPts val="0"/>
              </a:spcBef>
              <a:spcAft>
                <a:spcPts val="0"/>
              </a:spcAft>
            </a:pPr>
            <a:r>
              <a:rPr sz="900" dirty="0">
                <a:solidFill>
                  <a:srgbClr val="000000"/>
                </a:solidFill>
                <a:latin typeface="IDNLAK+EBGaramond-Medium"/>
                <a:cs typeface="IDNLAK+EBGaramond-Medium"/>
              </a:rPr>
              <a:t>Pointꢀbaseꢀapiꢀtoꢀtheꢀseversꢀbaseꢀurlꢀ</a:t>
            </a:r>
          </a:p>
          <a:p>
            <a:pPr marL="0" marR="0">
              <a:lnSpc>
                <a:spcPts val="1157"/>
              </a:lnSpc>
              <a:spcBef>
                <a:spcPts val="0"/>
              </a:spcBef>
              <a:spcAft>
                <a:spcPts val="0"/>
              </a:spcAft>
            </a:pPr>
            <a:r>
              <a:rPr sz="900" dirty="0">
                <a:solidFill>
                  <a:srgbClr val="000000"/>
                </a:solidFill>
                <a:latin typeface="IDNLAK+EBGaramond-Medium"/>
                <a:cs typeface="IDNLAK+EBGaramond-Medium"/>
              </a:rPr>
              <a:t>Designꢀapiꢀcallsꢀforꢀeachꢀelementꢀ</a:t>
            </a:r>
          </a:p>
          <a:p>
            <a:pPr marL="0" marR="0">
              <a:lnSpc>
                <a:spcPts val="1157"/>
              </a:lnSpc>
              <a:spcBef>
                <a:spcPts val="8"/>
              </a:spcBef>
              <a:spcAft>
                <a:spcPts val="0"/>
              </a:spcAft>
            </a:pPr>
            <a:r>
              <a:rPr sz="900" dirty="0">
                <a:solidFill>
                  <a:srgbClr val="000000"/>
                </a:solidFill>
                <a:latin typeface="IDNLAK+EBGaramond-Medium"/>
                <a:cs typeface="IDNLAK+EBGaramond-Medium"/>
              </a:rPr>
              <a:t>Handleꢀerrorsꢀinꢀtheꢀoutput</a:t>
            </a:r>
          </a:p>
          <a:p>
            <a:pPr marL="0" marR="0">
              <a:lnSpc>
                <a:spcPts val="1157"/>
              </a:lnSpc>
              <a:spcBef>
                <a:spcPts val="8"/>
              </a:spcBef>
              <a:spcAft>
                <a:spcPts val="0"/>
              </a:spcAft>
            </a:pPr>
            <a:r>
              <a:rPr sz="900" dirty="0">
                <a:solidFill>
                  <a:srgbClr val="000000"/>
                </a:solidFill>
                <a:latin typeface="IDNLAK+EBGaramond-Medium"/>
                <a:cs typeface="IDNLAK+EBGaramond-Medium"/>
              </a:rPr>
              <a:t>Renderꢀoutputꢀofꢀapisꢀtoꢀdifferentꢀlowꢀlevelꢀcomponents</a:t>
            </a:r>
          </a:p>
          <a:p>
            <a:pPr marL="0" marR="0">
              <a:lnSpc>
                <a:spcPts val="1157"/>
              </a:lnSpc>
              <a:spcBef>
                <a:spcPts val="0"/>
              </a:spcBef>
              <a:spcAft>
                <a:spcPts val="0"/>
              </a:spcAft>
            </a:pPr>
            <a:r>
              <a:rPr sz="900" dirty="0">
                <a:solidFill>
                  <a:srgbClr val="000000"/>
                </a:solidFill>
                <a:latin typeface="IDNLAK+EBGaramond-Medium"/>
                <a:cs typeface="IDNLAK+EBGaramond-Medium"/>
              </a:rPr>
              <a:t>Secureꢀcontentꢀofꢀpostꢀapisx</a:t>
            </a:r>
          </a:p>
        </p:txBody>
      </p:sp>
      <p:sp>
        <p:nvSpPr>
          <p:cNvPr id="10" name="object 10"/>
          <p:cNvSpPr txBox="1"/>
          <p:nvPr/>
        </p:nvSpPr>
        <p:spPr>
          <a:xfrm>
            <a:off x="537187" y="2682362"/>
            <a:ext cx="1748942" cy="302869"/>
          </a:xfrm>
          <a:prstGeom prst="rect">
            <a:avLst/>
          </a:prstGeom>
        </p:spPr>
        <p:txBody>
          <a:bodyPr vert="horz" wrap="square" lIns="0" tIns="0" rIns="0" bIns="0" rtlCol="0">
            <a:spAutoFit/>
          </a:bodyPr>
          <a:lstStyle/>
          <a:p>
            <a:pPr marL="0" marR="0">
              <a:lnSpc>
                <a:spcPts val="2084"/>
              </a:lnSpc>
              <a:spcBef>
                <a:spcPts val="0"/>
              </a:spcBef>
              <a:spcAft>
                <a:spcPts val="0"/>
              </a:spcAft>
            </a:pPr>
            <a:r>
              <a:rPr sz="1600" b="1" dirty="0">
                <a:solidFill>
                  <a:srgbClr val="0B5394"/>
                </a:solidFill>
                <a:latin typeface="CSBFGQ+EBGaramond-Bold"/>
                <a:cs typeface="CSBFGQ+EBGaramond-Bold"/>
              </a:rPr>
              <a:t>EvaluationꢀMetric:</a:t>
            </a:r>
          </a:p>
        </p:txBody>
      </p:sp>
      <p:sp>
        <p:nvSpPr>
          <p:cNvPr id="11" name="object 11"/>
          <p:cNvSpPr txBox="1"/>
          <p:nvPr/>
        </p:nvSpPr>
        <p:spPr>
          <a:xfrm>
            <a:off x="676899" y="2975374"/>
            <a:ext cx="3020618" cy="266750"/>
          </a:xfrm>
          <a:prstGeom prst="rect">
            <a:avLst/>
          </a:prstGeom>
        </p:spPr>
        <p:txBody>
          <a:bodyPr vert="horz" wrap="square" lIns="0" tIns="0" rIns="0" bIns="0" rtlCol="0">
            <a:spAutoFit/>
          </a:bodyPr>
          <a:lstStyle/>
          <a:p>
            <a:pPr marL="0" marR="0">
              <a:lnSpc>
                <a:spcPts val="1800"/>
              </a:lnSpc>
              <a:spcBef>
                <a:spcPts val="0"/>
              </a:spcBef>
              <a:spcAft>
                <a:spcPts val="0"/>
              </a:spcAft>
            </a:pPr>
            <a:r>
              <a:rPr sz="1400" dirty="0">
                <a:solidFill>
                  <a:srgbClr val="000000"/>
                </a:solidFill>
                <a:latin typeface="SJNKRS+ArialMT"/>
                <a:cs typeface="SJNKRS+ArialMT"/>
              </a:rPr>
              <a:t>●</a:t>
            </a:r>
            <a:r>
              <a:rPr sz="1400" spc="1303" dirty="0">
                <a:solidFill>
                  <a:srgbClr val="000000"/>
                </a:solidFill>
                <a:latin typeface="Times New Roman"/>
                <a:cs typeface="Times New Roman"/>
              </a:rPr>
              <a:t> </a:t>
            </a:r>
            <a:r>
              <a:rPr sz="1400" dirty="0">
                <a:solidFill>
                  <a:srgbClr val="000000"/>
                </a:solidFill>
                <a:latin typeface="IDNLAK+EBGaramond-Medium"/>
                <a:cs typeface="IDNLAK+EBGaramond-Medium"/>
              </a:rPr>
              <a:t>100%ꢀCompletionꢀofꢀtheꢀaboveꢀtasks</a:t>
            </a:r>
          </a:p>
        </p:txBody>
      </p:sp>
      <p:sp>
        <p:nvSpPr>
          <p:cNvPr id="12" name="object 12"/>
          <p:cNvSpPr txBox="1"/>
          <p:nvPr/>
        </p:nvSpPr>
        <p:spPr>
          <a:xfrm>
            <a:off x="638230" y="3595836"/>
            <a:ext cx="1717306" cy="247015"/>
          </a:xfrm>
          <a:prstGeom prst="rect">
            <a:avLst/>
          </a:prstGeom>
        </p:spPr>
        <p:txBody>
          <a:bodyPr vert="horz" wrap="square" lIns="0" tIns="0" rIns="0" bIns="0" rtlCol="0">
            <a:spAutoFit/>
          </a:bodyPr>
          <a:lstStyle/>
          <a:p>
            <a:pPr marL="0" marR="0">
              <a:lnSpc>
                <a:spcPts val="1645"/>
              </a:lnSpc>
              <a:spcBef>
                <a:spcPts val="0"/>
              </a:spcBef>
              <a:spcAft>
                <a:spcPts val="0"/>
              </a:spcAft>
            </a:pPr>
            <a:r>
              <a:rPr sz="1400" b="1" dirty="0">
                <a:solidFill>
                  <a:srgbClr val="C88C32"/>
                </a:solidFill>
                <a:latin typeface="CHCNIJ+PublicSans-Bold"/>
                <a:cs typeface="CHCNIJ+PublicSans-Bold"/>
              </a:rPr>
              <a:t>Learning Outcome</a:t>
            </a:r>
          </a:p>
        </p:txBody>
      </p:sp>
      <p:sp>
        <p:nvSpPr>
          <p:cNvPr id="13" name="object 13"/>
          <p:cNvSpPr txBox="1"/>
          <p:nvPr/>
        </p:nvSpPr>
        <p:spPr>
          <a:xfrm>
            <a:off x="733300" y="3999601"/>
            <a:ext cx="206424" cy="800429"/>
          </a:xfrm>
          <a:prstGeom prst="rect">
            <a:avLst/>
          </a:prstGeom>
        </p:spPr>
        <p:txBody>
          <a:bodyPr vert="horz" wrap="square" lIns="0" tIns="0" rIns="0" bIns="0" rtlCol="0">
            <a:spAutoFit/>
          </a:bodyPr>
          <a:lstStyle/>
          <a:p>
            <a:pPr marL="0" marR="0">
              <a:lnSpc>
                <a:spcPts val="1340"/>
              </a:lnSpc>
              <a:spcBef>
                <a:spcPts val="0"/>
              </a:spcBef>
              <a:spcAft>
                <a:spcPts val="0"/>
              </a:spcAft>
            </a:pPr>
            <a:r>
              <a:rPr sz="1200" dirty="0">
                <a:solidFill>
                  <a:srgbClr val="000000"/>
                </a:solidFill>
                <a:latin typeface="SJNKRS+ArialMT"/>
                <a:cs typeface="SJNKRS+ArialMT"/>
              </a:rPr>
              <a:t>▪</a:t>
            </a:r>
          </a:p>
          <a:p>
            <a:pPr marL="0" marR="0">
              <a:lnSpc>
                <a:spcPts val="1340"/>
              </a:lnSpc>
              <a:spcBef>
                <a:spcPts val="263"/>
              </a:spcBef>
              <a:spcAft>
                <a:spcPts val="0"/>
              </a:spcAft>
            </a:pPr>
            <a:r>
              <a:rPr sz="1200" dirty="0">
                <a:solidFill>
                  <a:srgbClr val="000000"/>
                </a:solidFill>
                <a:latin typeface="SJNKRS+ArialMT"/>
                <a:cs typeface="SJNKRS+ArialMT"/>
              </a:rPr>
              <a:t>▪</a:t>
            </a:r>
          </a:p>
          <a:p>
            <a:pPr marL="0" marR="0">
              <a:lnSpc>
                <a:spcPts val="1340"/>
              </a:lnSpc>
              <a:spcBef>
                <a:spcPts val="213"/>
              </a:spcBef>
              <a:spcAft>
                <a:spcPts val="0"/>
              </a:spcAft>
            </a:pPr>
            <a:r>
              <a:rPr sz="1200" dirty="0">
                <a:solidFill>
                  <a:srgbClr val="000000"/>
                </a:solidFill>
                <a:latin typeface="SJNKRS+ArialMT"/>
                <a:cs typeface="SJNKRS+ArialMT"/>
              </a:rPr>
              <a:t>▪</a:t>
            </a:r>
          </a:p>
          <a:p>
            <a:pPr marL="0" marR="0">
              <a:lnSpc>
                <a:spcPts val="1340"/>
              </a:lnSpc>
              <a:spcBef>
                <a:spcPts val="263"/>
              </a:spcBef>
              <a:spcAft>
                <a:spcPts val="0"/>
              </a:spcAft>
            </a:pPr>
            <a:r>
              <a:rPr sz="1200" dirty="0">
                <a:solidFill>
                  <a:srgbClr val="000000"/>
                </a:solidFill>
                <a:latin typeface="SJNKRS+ArialMT"/>
                <a:cs typeface="SJNKRS+ArialMT"/>
              </a:rPr>
              <a:t>▪</a:t>
            </a:r>
          </a:p>
        </p:txBody>
      </p:sp>
      <p:sp>
        <p:nvSpPr>
          <p:cNvPr id="14" name="object 14"/>
          <p:cNvSpPr txBox="1"/>
          <p:nvPr/>
        </p:nvSpPr>
        <p:spPr>
          <a:xfrm>
            <a:off x="1038100" y="3986841"/>
            <a:ext cx="3270351" cy="826156"/>
          </a:xfrm>
          <a:prstGeom prst="rect">
            <a:avLst/>
          </a:prstGeom>
        </p:spPr>
        <p:txBody>
          <a:bodyPr vert="horz" wrap="square" lIns="0" tIns="0" rIns="0" bIns="0" rtlCol="0">
            <a:spAutoFit/>
          </a:bodyPr>
          <a:lstStyle/>
          <a:p>
            <a:pPr marL="0" marR="0">
              <a:lnSpc>
                <a:spcPts val="1543"/>
              </a:lnSpc>
              <a:spcBef>
                <a:spcPts val="0"/>
              </a:spcBef>
              <a:spcAft>
                <a:spcPts val="0"/>
              </a:spcAft>
            </a:pPr>
            <a:r>
              <a:rPr sz="1200" dirty="0">
                <a:solidFill>
                  <a:srgbClr val="000000"/>
                </a:solidFill>
                <a:latin typeface="IDNLAK+EBGaramond-Medium"/>
                <a:cs typeface="IDNLAK+EBGaramond-Medium"/>
              </a:rPr>
              <a:t>DevelopingꢀcomplicatedꢀUIꢀusingꢀreactꢀcomponents</a:t>
            </a:r>
          </a:p>
          <a:p>
            <a:pPr marL="0" marR="0">
              <a:lnSpc>
                <a:spcPts val="1543"/>
              </a:lnSpc>
              <a:spcBef>
                <a:spcPts val="60"/>
              </a:spcBef>
              <a:spcAft>
                <a:spcPts val="0"/>
              </a:spcAft>
            </a:pPr>
            <a:r>
              <a:rPr sz="1200" dirty="0">
                <a:solidFill>
                  <a:srgbClr val="000000"/>
                </a:solidFill>
                <a:latin typeface="IDNLAK+EBGaramond-Medium"/>
                <a:cs typeface="IDNLAK+EBGaramond-Medium"/>
              </a:rPr>
              <a:t>Usingꢀpropsꢀdrillingꢀandꢀcontextꢀtoꢀpassꢀvariables</a:t>
            </a:r>
          </a:p>
          <a:p>
            <a:pPr marL="0" marR="0">
              <a:lnSpc>
                <a:spcPts val="1543"/>
              </a:lnSpc>
              <a:spcBef>
                <a:spcPts val="60"/>
              </a:spcBef>
              <a:spcAft>
                <a:spcPts val="0"/>
              </a:spcAft>
            </a:pPr>
            <a:r>
              <a:rPr sz="1200" dirty="0">
                <a:solidFill>
                  <a:srgbClr val="000000"/>
                </a:solidFill>
                <a:latin typeface="IDNLAK+EBGaramond-Medium"/>
                <a:cs typeface="IDNLAK+EBGaramond-Medium"/>
              </a:rPr>
              <a:t>Gettingꢀfamiliarꢀwithꢀdifferentꢀtypeꢀofꢀapiꢀcalls</a:t>
            </a:r>
          </a:p>
          <a:p>
            <a:pPr marL="0" marR="0">
              <a:lnSpc>
                <a:spcPts val="1543"/>
              </a:lnSpc>
              <a:spcBef>
                <a:spcPts val="10"/>
              </a:spcBef>
              <a:spcAft>
                <a:spcPts val="0"/>
              </a:spcAft>
            </a:pPr>
            <a:r>
              <a:rPr sz="1200" dirty="0">
                <a:solidFill>
                  <a:srgbClr val="000000"/>
                </a:solidFill>
                <a:latin typeface="IDNLAK+EBGaramond-Medium"/>
                <a:cs typeface="IDNLAK+EBGaramond-Medium"/>
              </a:rPr>
              <a:t>Handlingꢀdifferentꢀinputꢀdata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7666" y="427735"/>
            <a:ext cx="6797992" cy="3508653"/>
          </a:xfrm>
        </p:spPr>
        <p:txBody>
          <a:bodyPr/>
          <a:lstStyle/>
          <a:p>
            <a:pPr algn="l">
              <a:lnSpc>
                <a:spcPct val="200000"/>
              </a:lnSpc>
            </a:pPr>
            <a:r>
              <a:rPr lang="en-US" dirty="0" smtClean="0">
                <a:solidFill>
                  <a:schemeClr val="accent1">
                    <a:lumMod val="75000"/>
                  </a:schemeClr>
                </a:solidFill>
                <a:latin typeface="Times New Roman" pitchFamily="18" charset="0"/>
                <a:cs typeface="Times New Roman" pitchFamily="18" charset="0"/>
              </a:rPr>
              <a:t>Description</a:t>
            </a:r>
            <a:r>
              <a:rPr lang="en-US" sz="1600" dirty="0" smtClean="0"/>
              <a:t/>
            </a:r>
            <a:br>
              <a:rPr lang="en-US" sz="1600" dirty="0" smtClean="0"/>
            </a:br>
            <a:r>
              <a:rPr lang="en-US" sz="1600" dirty="0" smtClean="0"/>
              <a:t>	Social media refers to a collection of online platforms and websites that enable users to create, share, and exchange information, ideas, and multimedia content with others in a virtual, digital environment. These platforms have become an integral part of modern communication and play a significant role in connecting people, businesses, and communities around the world. Here's a more detailed description of social media:</a:t>
            </a:r>
            <a:endParaRPr lang="en-US" sz="1600" dirty="0">
              <a:solidFill>
                <a:schemeClr val="accent1">
                  <a:lumMod val="75000"/>
                </a:schemeClr>
              </a:solidFill>
              <a:latin typeface="Times New Roman" pitchFamily="18" charset="0"/>
              <a:cs typeface="Times New Roman"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7666" y="427735"/>
            <a:ext cx="6797992" cy="4431983"/>
          </a:xfrm>
        </p:spPr>
        <p:txBody>
          <a:bodyPr/>
          <a:lstStyle/>
          <a:p>
            <a:pPr>
              <a:lnSpc>
                <a:spcPct val="200000"/>
              </a:lnSpc>
            </a:pPr>
            <a:r>
              <a:rPr lang="en-US" sz="1600" b="1" dirty="0" smtClean="0">
                <a:solidFill>
                  <a:srgbClr val="002060"/>
                </a:solidFill>
              </a:rPr>
              <a:t>User-Generated Content</a:t>
            </a:r>
            <a:r>
              <a:rPr lang="en-US" sz="1600" dirty="0" smtClean="0"/>
              <a:t>: </a:t>
            </a:r>
            <a:br>
              <a:rPr lang="en-US" sz="1600" dirty="0" smtClean="0"/>
            </a:br>
            <a:r>
              <a:rPr lang="en-US" sz="1600" dirty="0" smtClean="0"/>
              <a:t>	Social media is primarily driven by user-generated content. Users can post text, images, videos, links, and other forms of media on these platforms, allowing for a wide variety of content and self-expression.</a:t>
            </a:r>
            <a:br>
              <a:rPr lang="en-US" sz="1600" dirty="0" smtClean="0"/>
            </a:br>
            <a:r>
              <a:rPr lang="en-US" sz="1600" b="1" dirty="0" smtClean="0">
                <a:solidFill>
                  <a:srgbClr val="002060"/>
                </a:solidFill>
              </a:rPr>
              <a:t>Interactivity</a:t>
            </a:r>
            <a:r>
              <a:rPr lang="en-US" sz="1600" dirty="0" smtClean="0"/>
              <a:t>: </a:t>
            </a:r>
            <a:br>
              <a:rPr lang="en-US" sz="1600" dirty="0" smtClean="0"/>
            </a:br>
            <a:r>
              <a:rPr lang="en-US" sz="1600" dirty="0" smtClean="0"/>
              <a:t>	One of the key features of social media is interactivity. Users can engage with content by liking, sharing, commenting, or reacting to it, creating a dynamic and participatory environment.</a:t>
            </a:r>
            <a:br>
              <a:rPr lang="en-US" sz="1600" dirty="0" smtClean="0"/>
            </a:br>
            <a:endParaRPr lang="en-US" sz="1600" dirty="0">
              <a:solidFill>
                <a:schemeClr val="accent1">
                  <a:lumMod val="75000"/>
                </a:schemeClr>
              </a:solidFill>
              <a:latin typeface="Times New Roman" pitchFamily="18" charset="0"/>
              <a:cs typeface="Times New Roman"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7666" y="427735"/>
            <a:ext cx="6797992" cy="3877985"/>
          </a:xfrm>
        </p:spPr>
        <p:txBody>
          <a:bodyPr/>
          <a:lstStyle/>
          <a:p>
            <a:pPr>
              <a:lnSpc>
                <a:spcPct val="200000"/>
              </a:lnSpc>
            </a:pPr>
            <a:r>
              <a:rPr lang="en-US" b="1" dirty="0" smtClean="0">
                <a:solidFill>
                  <a:srgbClr val="002060"/>
                </a:solidFill>
              </a:rPr>
              <a:t>Personal Connection</a:t>
            </a:r>
            <a:r>
              <a:rPr lang="en-US" b="1" dirty="0" smtClean="0"/>
              <a:t/>
            </a:r>
            <a:br>
              <a:rPr lang="en-US" b="1" dirty="0" smtClean="0"/>
            </a:br>
            <a:r>
              <a:rPr lang="en-US" dirty="0" smtClean="0"/>
              <a:t> 	People use social media to connect with friends, family, and acquaintances, regardless of geographic distances. It allows for easy communication and sharing of life updates.</a:t>
            </a:r>
            <a:br>
              <a:rPr lang="en-US" dirty="0" smtClean="0"/>
            </a:br>
            <a:r>
              <a:rPr lang="en-US" b="1" dirty="0" smtClean="0">
                <a:solidFill>
                  <a:srgbClr val="002060"/>
                </a:solidFill>
              </a:rPr>
              <a:t>Information Sharing</a:t>
            </a:r>
            <a:r>
              <a:rPr lang="en-US" dirty="0" smtClean="0"/>
              <a:t/>
            </a:r>
            <a:br>
              <a:rPr lang="en-US" dirty="0" smtClean="0"/>
            </a:br>
            <a:r>
              <a:rPr lang="en-US" dirty="0" smtClean="0"/>
              <a:t>	Users can share news, articles, and information on various topics of interest, helping to spread information quickly and widely</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158" y="285734"/>
            <a:ext cx="6797992" cy="5416868"/>
          </a:xfrm>
        </p:spPr>
        <p:txBody>
          <a:bodyPr/>
          <a:lstStyle/>
          <a:p>
            <a:pPr>
              <a:lnSpc>
                <a:spcPct val="200000"/>
              </a:lnSpc>
            </a:pPr>
            <a:r>
              <a:rPr lang="en-US" sz="1600" b="1" dirty="0" smtClean="0">
                <a:solidFill>
                  <a:srgbClr val="002060"/>
                </a:solidFill>
              </a:rPr>
              <a:t>Entertainment</a:t>
            </a:r>
            <a:r>
              <a:rPr lang="en-US" sz="1600" b="1" dirty="0" smtClean="0"/>
              <a:t/>
            </a:r>
            <a:br>
              <a:rPr lang="en-US" sz="1600" b="1" dirty="0" smtClean="0"/>
            </a:br>
            <a:r>
              <a:rPr lang="en-US" sz="1600" dirty="0" smtClean="0"/>
              <a:t> 	Social media offers a wide range of entertainment options, from funny videos to interactive games and virtual communities.</a:t>
            </a:r>
            <a:br>
              <a:rPr lang="en-US" sz="1600" dirty="0" smtClean="0"/>
            </a:br>
            <a:r>
              <a:rPr lang="en-US" sz="1600" b="1" dirty="0" smtClean="0">
                <a:solidFill>
                  <a:srgbClr val="002060"/>
                </a:solidFill>
              </a:rPr>
              <a:t>Networking</a:t>
            </a:r>
            <a:r>
              <a:rPr lang="en-US" sz="1600" b="1" dirty="0" smtClean="0"/>
              <a:t/>
            </a:r>
            <a:br>
              <a:rPr lang="en-US" sz="1600" b="1" dirty="0" smtClean="0"/>
            </a:br>
            <a:r>
              <a:rPr lang="en-US" sz="1600" dirty="0" smtClean="0"/>
              <a:t> 	Professionals use platforms like LinkedIn for job searching and networking, while businesses use social media for marketing and brand building.</a:t>
            </a:r>
            <a:br>
              <a:rPr lang="en-US" sz="1600" dirty="0" smtClean="0"/>
            </a:br>
            <a:r>
              <a:rPr lang="en-US" sz="1600" b="1" dirty="0" smtClean="0">
                <a:solidFill>
                  <a:srgbClr val="002060"/>
                </a:solidFill>
              </a:rPr>
              <a:t>Expression</a:t>
            </a:r>
            <a:r>
              <a:rPr lang="en-US" sz="1600" b="1" dirty="0" smtClean="0"/>
              <a:t/>
            </a:r>
            <a:br>
              <a:rPr lang="en-US" sz="1600" b="1" dirty="0" smtClean="0"/>
            </a:br>
            <a:r>
              <a:rPr lang="en-US" sz="1600" b="1" dirty="0" smtClean="0"/>
              <a:t>	</a:t>
            </a:r>
            <a:r>
              <a:rPr lang="en-US" sz="1600" dirty="0" smtClean="0"/>
              <a:t> Many individuals use social media to express their thoughts, opinions, and creativity through text, images, videos, and more</a:t>
            </a:r>
            <a:br>
              <a:rPr lang="en-US" sz="1600" dirty="0" smtClean="0"/>
            </a:br>
            <a:r>
              <a:rPr lang="en-US" sz="1600" dirty="0" smtClean="0"/>
              <a:t/>
            </a:r>
            <a:br>
              <a:rPr lang="en-US" sz="1600" dirty="0" smtClean="0"/>
            </a:br>
            <a:endParaRPr lang="en-US" sz="1600" dirty="0">
              <a:solidFill>
                <a:schemeClr val="accent1">
                  <a:lumMod val="75000"/>
                </a:schemeClr>
              </a:solidFill>
              <a:latin typeface="Times New Roman" pitchFamily="18" charset="0"/>
              <a:cs typeface="Times New Roman"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9144000" cy="51435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284724" y="192514"/>
            <a:ext cx="2988868" cy="435254"/>
          </a:xfrm>
          <a:prstGeom prst="rect">
            <a:avLst/>
          </a:prstGeom>
        </p:spPr>
        <p:txBody>
          <a:bodyPr vert="horz" wrap="square" lIns="0" tIns="0" rIns="0" bIns="0" rtlCol="0">
            <a:spAutoFit/>
          </a:bodyPr>
          <a:lstStyle/>
          <a:p>
            <a:pPr marL="0" marR="0">
              <a:lnSpc>
                <a:spcPts val="3127"/>
              </a:lnSpc>
              <a:spcBef>
                <a:spcPts val="0"/>
              </a:spcBef>
              <a:spcAft>
                <a:spcPts val="0"/>
              </a:spcAft>
            </a:pPr>
            <a:r>
              <a:rPr sz="2400" b="1" dirty="0">
                <a:solidFill>
                  <a:srgbClr val="C88C32"/>
                </a:solidFill>
                <a:latin typeface="CSBFGQ+EBGaramond-Bold"/>
                <a:cs typeface="CSBFGQ+EBGaramond-Bold"/>
              </a:rPr>
              <a:t>AssessmentꢀParameter</a:t>
            </a:r>
          </a:p>
        </p:txBody>
      </p:sp>
      <p:sp>
        <p:nvSpPr>
          <p:cNvPr id="4" name="object 4"/>
          <p:cNvSpPr txBox="1"/>
          <p:nvPr/>
        </p:nvSpPr>
        <p:spPr>
          <a:xfrm>
            <a:off x="1073672" y="961898"/>
            <a:ext cx="1542414" cy="352297"/>
          </a:xfrm>
          <a:prstGeom prst="rect">
            <a:avLst/>
          </a:prstGeom>
        </p:spPr>
        <p:txBody>
          <a:bodyPr vert="horz" wrap="square" lIns="0" tIns="0" rIns="0" bIns="0" rtlCol="0">
            <a:spAutoFit/>
          </a:bodyPr>
          <a:lstStyle/>
          <a:p>
            <a:pPr marL="0" marR="0">
              <a:lnSpc>
                <a:spcPts val="1273"/>
              </a:lnSpc>
              <a:spcBef>
                <a:spcPts val="0"/>
              </a:spcBef>
              <a:spcAft>
                <a:spcPts val="0"/>
              </a:spcAft>
            </a:pPr>
            <a:r>
              <a:rPr sz="1000" dirty="0">
                <a:solidFill>
                  <a:srgbClr val="000000"/>
                </a:solidFill>
                <a:latin typeface="LNEEUU+EBGaramond-Regular"/>
                <a:cs typeface="LNEEUU+EBGaramond-Regular"/>
              </a:rPr>
              <a:t>SetupꢀProjectꢀforꢀCalculatorꢀ</a:t>
            </a:r>
          </a:p>
          <a:p>
            <a:pPr marL="1023937" marR="0">
              <a:lnSpc>
                <a:spcPts val="1200"/>
              </a:lnSpc>
              <a:spcBef>
                <a:spcPts val="0"/>
              </a:spcBef>
              <a:spcAft>
                <a:spcPts val="0"/>
              </a:spcAft>
            </a:pPr>
            <a:r>
              <a:rPr sz="1000" dirty="0">
                <a:solidFill>
                  <a:srgbClr val="000000"/>
                </a:solidFill>
                <a:latin typeface="LNEEUU+EBGaramond-Regular"/>
                <a:cs typeface="LNEEUU+EBGaramond-Regular"/>
              </a:rPr>
              <a:t>project</a:t>
            </a:r>
          </a:p>
        </p:txBody>
      </p:sp>
      <p:sp>
        <p:nvSpPr>
          <p:cNvPr id="5" name="object 5"/>
          <p:cNvSpPr txBox="1"/>
          <p:nvPr/>
        </p:nvSpPr>
        <p:spPr>
          <a:xfrm>
            <a:off x="6706940" y="961898"/>
            <a:ext cx="1537842" cy="352297"/>
          </a:xfrm>
          <a:prstGeom prst="rect">
            <a:avLst/>
          </a:prstGeom>
        </p:spPr>
        <p:txBody>
          <a:bodyPr vert="horz" wrap="square" lIns="0" tIns="0" rIns="0" bIns="0" rtlCol="0">
            <a:spAutoFit/>
          </a:bodyPr>
          <a:lstStyle/>
          <a:p>
            <a:pPr marL="0" marR="0">
              <a:lnSpc>
                <a:spcPts val="1273"/>
              </a:lnSpc>
              <a:spcBef>
                <a:spcPts val="0"/>
              </a:spcBef>
              <a:spcAft>
                <a:spcPts val="0"/>
              </a:spcAft>
            </a:pPr>
            <a:r>
              <a:rPr sz="1000" dirty="0">
                <a:solidFill>
                  <a:srgbClr val="000000"/>
                </a:solidFill>
                <a:latin typeface="LNEEUU+EBGaramond-Regular"/>
                <a:cs typeface="LNEEUU+EBGaramond-Regular"/>
              </a:rPr>
              <a:t>Setupꢀbasicꢀstructureꢀofꢀtext-</a:t>
            </a:r>
          </a:p>
          <a:p>
            <a:pPr marL="0" marR="0">
              <a:lnSpc>
                <a:spcPts val="1200"/>
              </a:lnSpc>
              <a:spcBef>
                <a:spcPts val="0"/>
              </a:spcBef>
              <a:spcAft>
                <a:spcPts val="0"/>
              </a:spcAft>
            </a:pPr>
            <a:r>
              <a:rPr sz="1000" dirty="0">
                <a:solidFill>
                  <a:srgbClr val="000000"/>
                </a:solidFill>
                <a:latin typeface="LNEEUU+EBGaramond-Regular"/>
                <a:cs typeface="LNEEUU+EBGaramond-Regular"/>
              </a:rPr>
              <a:t>editorꢀproject</a:t>
            </a:r>
          </a:p>
        </p:txBody>
      </p:sp>
      <p:sp>
        <p:nvSpPr>
          <p:cNvPr id="6" name="object 6"/>
          <p:cNvSpPr txBox="1"/>
          <p:nvPr/>
        </p:nvSpPr>
        <p:spPr>
          <a:xfrm>
            <a:off x="565025" y="2189413"/>
            <a:ext cx="1869185" cy="352298"/>
          </a:xfrm>
          <a:prstGeom prst="rect">
            <a:avLst/>
          </a:prstGeom>
        </p:spPr>
        <p:txBody>
          <a:bodyPr vert="horz" wrap="square" lIns="0" tIns="0" rIns="0" bIns="0" rtlCol="0">
            <a:spAutoFit/>
          </a:bodyPr>
          <a:lstStyle/>
          <a:p>
            <a:pPr marL="0" marR="0">
              <a:lnSpc>
                <a:spcPts val="1273"/>
              </a:lnSpc>
              <a:spcBef>
                <a:spcPts val="0"/>
              </a:spcBef>
              <a:spcAft>
                <a:spcPts val="0"/>
              </a:spcAft>
            </a:pPr>
            <a:r>
              <a:rPr sz="1000" dirty="0">
                <a:solidFill>
                  <a:srgbClr val="000000"/>
                </a:solidFill>
                <a:latin typeface="LNEEUU+EBGaramond-Regular"/>
                <a:cs typeface="LNEEUU+EBGaramond-Regular"/>
              </a:rPr>
              <a:t>Createꢀaꢀmainꢀcomponentꢀwithꢀtheꢀ</a:t>
            </a:r>
          </a:p>
          <a:p>
            <a:pPr marL="330200" marR="0">
              <a:lnSpc>
                <a:spcPts val="1200"/>
              </a:lnSpc>
              <a:spcBef>
                <a:spcPts val="0"/>
              </a:spcBef>
              <a:spcAft>
                <a:spcPts val="0"/>
              </a:spcAft>
            </a:pPr>
            <a:r>
              <a:rPr sz="1000" dirty="0">
                <a:solidFill>
                  <a:srgbClr val="000000"/>
                </a:solidFill>
                <a:latin typeface="LNEEUU+EBGaramond-Regular"/>
                <a:cs typeface="LNEEUU+EBGaramond-Regular"/>
              </a:rPr>
              <a:t>outerꢀstructureꢀofꢀcalculator</a:t>
            </a:r>
          </a:p>
        </p:txBody>
      </p:sp>
      <p:sp>
        <p:nvSpPr>
          <p:cNvPr id="7" name="object 7"/>
          <p:cNvSpPr txBox="1"/>
          <p:nvPr/>
        </p:nvSpPr>
        <p:spPr>
          <a:xfrm>
            <a:off x="6878577" y="2189404"/>
            <a:ext cx="1612900" cy="352298"/>
          </a:xfrm>
          <a:prstGeom prst="rect">
            <a:avLst/>
          </a:prstGeom>
        </p:spPr>
        <p:txBody>
          <a:bodyPr vert="horz" wrap="square" lIns="0" tIns="0" rIns="0" bIns="0" rtlCol="0">
            <a:spAutoFit/>
          </a:bodyPr>
          <a:lstStyle/>
          <a:p>
            <a:pPr marL="0" marR="0">
              <a:lnSpc>
                <a:spcPts val="1273"/>
              </a:lnSpc>
              <a:spcBef>
                <a:spcPts val="0"/>
              </a:spcBef>
              <a:spcAft>
                <a:spcPts val="0"/>
              </a:spcAft>
            </a:pPr>
            <a:r>
              <a:rPr sz="1000" dirty="0">
                <a:solidFill>
                  <a:srgbClr val="000000"/>
                </a:solidFill>
                <a:latin typeface="LNEEUU+EBGaramond-Regular"/>
                <a:cs typeface="LNEEUU+EBGaramond-Regular"/>
              </a:rPr>
              <a:t>Createꢀmainꢀcomponentꢀwithꢀ</a:t>
            </a:r>
          </a:p>
          <a:p>
            <a:pPr marL="0" marR="0">
              <a:lnSpc>
                <a:spcPts val="1200"/>
              </a:lnSpc>
              <a:spcBef>
                <a:spcPts val="0"/>
              </a:spcBef>
              <a:spcAft>
                <a:spcPts val="0"/>
              </a:spcAft>
            </a:pPr>
            <a:r>
              <a:rPr sz="1000" dirty="0">
                <a:solidFill>
                  <a:srgbClr val="000000"/>
                </a:solidFill>
                <a:latin typeface="LNEEUU+EBGaramond-Regular"/>
                <a:cs typeface="LNEEUU+EBGaramond-Regular"/>
              </a:rPr>
              <a:t>allꢀfeatureꢀbuttons</a:t>
            </a:r>
          </a:p>
        </p:txBody>
      </p:sp>
      <p:sp>
        <p:nvSpPr>
          <p:cNvPr id="8" name="object 8"/>
          <p:cNvSpPr txBox="1"/>
          <p:nvPr/>
        </p:nvSpPr>
        <p:spPr>
          <a:xfrm>
            <a:off x="4055551" y="2269240"/>
            <a:ext cx="1198016" cy="335965"/>
          </a:xfrm>
          <a:prstGeom prst="rect">
            <a:avLst/>
          </a:prstGeom>
        </p:spPr>
        <p:txBody>
          <a:bodyPr vert="horz" wrap="square" lIns="0" tIns="0" rIns="0" bIns="0" rtlCol="0">
            <a:spAutoFit/>
          </a:bodyPr>
          <a:lstStyle/>
          <a:p>
            <a:pPr marL="0" marR="0">
              <a:lnSpc>
                <a:spcPts val="2345"/>
              </a:lnSpc>
              <a:spcBef>
                <a:spcPts val="0"/>
              </a:spcBef>
              <a:spcAft>
                <a:spcPts val="0"/>
              </a:spcAft>
            </a:pPr>
            <a:r>
              <a:rPr sz="1800" b="1" dirty="0">
                <a:solidFill>
                  <a:srgbClr val="223669"/>
                </a:solidFill>
                <a:latin typeface="CSBFGQ+EBGaramond-Bold"/>
                <a:cs typeface="CSBFGQ+EBGaramond-Bold"/>
              </a:rPr>
              <a:t>Check-List</a:t>
            </a:r>
          </a:p>
        </p:txBody>
      </p:sp>
      <p:sp>
        <p:nvSpPr>
          <p:cNvPr id="9" name="object 9"/>
          <p:cNvSpPr txBox="1"/>
          <p:nvPr/>
        </p:nvSpPr>
        <p:spPr>
          <a:xfrm>
            <a:off x="1069970" y="3449640"/>
            <a:ext cx="1534540" cy="352297"/>
          </a:xfrm>
          <a:prstGeom prst="rect">
            <a:avLst/>
          </a:prstGeom>
        </p:spPr>
        <p:txBody>
          <a:bodyPr vert="horz" wrap="square" lIns="0" tIns="0" rIns="0" bIns="0" rtlCol="0">
            <a:spAutoFit/>
          </a:bodyPr>
          <a:lstStyle/>
          <a:p>
            <a:pPr marL="0" marR="0">
              <a:lnSpc>
                <a:spcPts val="1273"/>
              </a:lnSpc>
              <a:spcBef>
                <a:spcPts val="0"/>
              </a:spcBef>
              <a:spcAft>
                <a:spcPts val="0"/>
              </a:spcAft>
            </a:pPr>
            <a:r>
              <a:rPr sz="1000" dirty="0">
                <a:solidFill>
                  <a:srgbClr val="000000"/>
                </a:solidFill>
                <a:latin typeface="LNEEUU+EBGaramond-Regular"/>
                <a:cs typeface="LNEEUU+EBGaramond-Regular"/>
              </a:rPr>
              <a:t>Createꢀaꢀbuttonꢀcomponentꢀ</a:t>
            </a:r>
          </a:p>
          <a:p>
            <a:pPr marL="331787" marR="0">
              <a:lnSpc>
                <a:spcPts val="1200"/>
              </a:lnSpc>
              <a:spcBef>
                <a:spcPts val="0"/>
              </a:spcBef>
              <a:spcAft>
                <a:spcPts val="0"/>
              </a:spcAft>
            </a:pPr>
            <a:r>
              <a:rPr sz="1000" dirty="0">
                <a:solidFill>
                  <a:srgbClr val="000000"/>
                </a:solidFill>
                <a:latin typeface="LNEEUU+EBGaramond-Regular"/>
                <a:cs typeface="LNEEUU+EBGaramond-Regular"/>
              </a:rPr>
              <a:t>withꢀonꢀclickꢀhandler</a:t>
            </a:r>
          </a:p>
        </p:txBody>
      </p:sp>
      <p:sp>
        <p:nvSpPr>
          <p:cNvPr id="10" name="object 10"/>
          <p:cNvSpPr txBox="1"/>
          <p:nvPr/>
        </p:nvSpPr>
        <p:spPr>
          <a:xfrm>
            <a:off x="6693713" y="3449640"/>
            <a:ext cx="1513840" cy="352297"/>
          </a:xfrm>
          <a:prstGeom prst="rect">
            <a:avLst/>
          </a:prstGeom>
        </p:spPr>
        <p:txBody>
          <a:bodyPr vert="horz" wrap="square" lIns="0" tIns="0" rIns="0" bIns="0" rtlCol="0">
            <a:spAutoFit/>
          </a:bodyPr>
          <a:lstStyle/>
          <a:p>
            <a:pPr marL="0" marR="0">
              <a:lnSpc>
                <a:spcPts val="1273"/>
              </a:lnSpc>
              <a:spcBef>
                <a:spcPts val="0"/>
              </a:spcBef>
              <a:spcAft>
                <a:spcPts val="0"/>
              </a:spcAft>
            </a:pPr>
            <a:r>
              <a:rPr sz="1000" dirty="0">
                <a:solidFill>
                  <a:srgbClr val="000000"/>
                </a:solidFill>
                <a:latin typeface="LNEEUU+EBGaramond-Regular"/>
                <a:cs typeface="LNEEUU+EBGaramond-Regular"/>
              </a:rPr>
              <a:t>Createꢀaꢀjsonꢀobjectꢀtoꢀstoreꢀ</a:t>
            </a:r>
          </a:p>
          <a:p>
            <a:pPr marL="0" marR="0">
              <a:lnSpc>
                <a:spcPts val="1200"/>
              </a:lnSpc>
              <a:spcBef>
                <a:spcPts val="0"/>
              </a:spcBef>
              <a:spcAft>
                <a:spcPts val="0"/>
              </a:spcAft>
            </a:pPr>
            <a:r>
              <a:rPr sz="1000" dirty="0">
                <a:solidFill>
                  <a:srgbClr val="000000"/>
                </a:solidFill>
                <a:latin typeface="LNEEUU+EBGaramond-Regular"/>
                <a:cs typeface="LNEEUU+EBGaramond-Regular"/>
              </a:rPr>
              <a:t>dataꢀforꢀtextꢀeditor</a:t>
            </a:r>
          </a:p>
        </p:txBody>
      </p:sp>
      <p:sp>
        <p:nvSpPr>
          <p:cNvPr id="11" name="object 11"/>
          <p:cNvSpPr txBox="1"/>
          <p:nvPr/>
        </p:nvSpPr>
        <p:spPr>
          <a:xfrm>
            <a:off x="2042082" y="4259340"/>
            <a:ext cx="1557147" cy="352297"/>
          </a:xfrm>
          <a:prstGeom prst="rect">
            <a:avLst/>
          </a:prstGeom>
        </p:spPr>
        <p:txBody>
          <a:bodyPr vert="horz" wrap="square" lIns="0" tIns="0" rIns="0" bIns="0" rtlCol="0">
            <a:spAutoFit/>
          </a:bodyPr>
          <a:lstStyle/>
          <a:p>
            <a:pPr marL="0" marR="0">
              <a:lnSpc>
                <a:spcPts val="1273"/>
              </a:lnSpc>
              <a:spcBef>
                <a:spcPts val="0"/>
              </a:spcBef>
              <a:spcAft>
                <a:spcPts val="0"/>
              </a:spcAft>
            </a:pPr>
            <a:r>
              <a:rPr sz="1000" dirty="0">
                <a:solidFill>
                  <a:srgbClr val="000000"/>
                </a:solidFill>
                <a:latin typeface="LNEEUU+EBGaramond-Regular"/>
                <a:cs typeface="LNEEUU+EBGaramond-Regular"/>
              </a:rPr>
              <a:t>Createꢀaꢀ`ꢀevaluateExpresion`ꢀ</a:t>
            </a:r>
          </a:p>
          <a:p>
            <a:pPr marL="128587" marR="0">
              <a:lnSpc>
                <a:spcPts val="1200"/>
              </a:lnSpc>
              <a:spcBef>
                <a:spcPts val="0"/>
              </a:spcBef>
              <a:spcAft>
                <a:spcPts val="0"/>
              </a:spcAft>
            </a:pPr>
            <a:r>
              <a:rPr sz="1000" dirty="0">
                <a:solidFill>
                  <a:srgbClr val="000000"/>
                </a:solidFill>
                <a:latin typeface="LNEEUU+EBGaramond-Regular"/>
                <a:cs typeface="LNEEUU+EBGaramond-Regular"/>
              </a:rPr>
              <a:t>functionꢀtoꢀevaluateꢀvalue</a:t>
            </a:r>
          </a:p>
        </p:txBody>
      </p:sp>
      <p:sp>
        <p:nvSpPr>
          <p:cNvPr id="12" name="object 12"/>
          <p:cNvSpPr txBox="1"/>
          <p:nvPr/>
        </p:nvSpPr>
        <p:spPr>
          <a:xfrm>
            <a:off x="5676365" y="4335540"/>
            <a:ext cx="1386078" cy="199897"/>
          </a:xfrm>
          <a:prstGeom prst="rect">
            <a:avLst/>
          </a:prstGeom>
        </p:spPr>
        <p:txBody>
          <a:bodyPr vert="horz" wrap="square" lIns="0" tIns="0" rIns="0" bIns="0" rtlCol="0">
            <a:spAutoFit/>
          </a:bodyPr>
          <a:lstStyle/>
          <a:p>
            <a:pPr marL="0" marR="0">
              <a:lnSpc>
                <a:spcPts val="1273"/>
              </a:lnSpc>
              <a:spcBef>
                <a:spcPts val="0"/>
              </a:spcBef>
              <a:spcAft>
                <a:spcPts val="0"/>
              </a:spcAft>
            </a:pPr>
            <a:r>
              <a:rPr sz="1000" dirty="0">
                <a:solidFill>
                  <a:srgbClr val="000000"/>
                </a:solidFill>
                <a:latin typeface="LNEEUU+EBGaramond-Regular"/>
                <a:cs typeface="LNEEUU+EBGaramond-Regular"/>
              </a:rPr>
              <a:t>Pushꢀbothꢀcodeꢀtoꢀgithub</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9144000" cy="5143500"/>
          </a:xfrm>
          <a:prstGeom prst="rect">
            <a:avLst/>
          </a:prstGeom>
          <a:blipFill>
            <a:blip r:embed="rId2" cstate="print"/>
            <a:stretch>
              <a:fillRect/>
            </a:stretch>
          </a:blipFill>
        </p:spPr>
        <p:txBody>
          <a:bodyPr wrap="square" lIns="0" tIns="0" rIns="0" bIns="0" rtlCol="0">
            <a:spAutoFit/>
          </a:bodyPr>
          <a:lstStyle/>
          <a:p>
            <a:endParaRPr/>
          </a:p>
        </p:txBody>
      </p:sp>
      <p:sp>
        <p:nvSpPr>
          <p:cNvPr id="3" name="object 3"/>
          <p:cNvSpPr txBox="1"/>
          <p:nvPr/>
        </p:nvSpPr>
        <p:spPr>
          <a:xfrm>
            <a:off x="3629445" y="894406"/>
            <a:ext cx="2183510" cy="306705"/>
          </a:xfrm>
          <a:prstGeom prst="rect">
            <a:avLst/>
          </a:prstGeom>
        </p:spPr>
        <p:txBody>
          <a:bodyPr vert="horz" wrap="square" lIns="0" tIns="0" rIns="0" bIns="0" rtlCol="0">
            <a:spAutoFit/>
          </a:bodyPr>
          <a:lstStyle/>
          <a:p>
            <a:pPr marL="0" marR="0">
              <a:lnSpc>
                <a:spcPts val="2115"/>
              </a:lnSpc>
              <a:spcBef>
                <a:spcPts val="0"/>
              </a:spcBef>
              <a:spcAft>
                <a:spcPts val="0"/>
              </a:spcAft>
            </a:pPr>
            <a:r>
              <a:rPr sz="1800" b="1" dirty="0">
                <a:solidFill>
                  <a:srgbClr val="FFFFFF"/>
                </a:solidFill>
                <a:latin typeface="SLFRMA+PublicSans-BoldItalic"/>
                <a:cs typeface="SLFRMA+PublicSans-BoldItalic"/>
              </a:rPr>
              <a:t>Submission</a:t>
            </a:r>
            <a:r>
              <a:rPr sz="1800" b="1" spc="-45" dirty="0">
                <a:solidFill>
                  <a:srgbClr val="FFFFFF"/>
                </a:solidFill>
                <a:latin typeface="SLFRMA+PublicSans-BoldItalic"/>
                <a:cs typeface="SLFRMA+PublicSans-BoldItalic"/>
              </a:rPr>
              <a:t> </a:t>
            </a:r>
            <a:r>
              <a:rPr sz="1800" b="1" dirty="0">
                <a:solidFill>
                  <a:srgbClr val="FFFFFF"/>
                </a:solidFill>
                <a:latin typeface="SLFRMA+PublicSans-BoldItalic"/>
                <a:cs typeface="SLFRMA+PublicSans-BoldItalic"/>
              </a:rPr>
              <a:t>Github</a:t>
            </a:r>
          </a:p>
        </p:txBody>
      </p:sp>
      <p:sp>
        <p:nvSpPr>
          <p:cNvPr id="4" name="object 4"/>
          <p:cNvSpPr txBox="1"/>
          <p:nvPr/>
        </p:nvSpPr>
        <p:spPr>
          <a:xfrm>
            <a:off x="3929058" y="1857370"/>
            <a:ext cx="3071834" cy="1292662"/>
          </a:xfrm>
          <a:prstGeom prst="rect">
            <a:avLst/>
          </a:prstGeom>
        </p:spPr>
        <p:txBody>
          <a:bodyPr vert="horz" wrap="square" lIns="0" tIns="0" rIns="0" bIns="0" rtlCol="0">
            <a:spAutoFit/>
          </a:bodyPr>
          <a:lstStyle/>
          <a:p>
            <a:pPr lvl="0">
              <a:lnSpc>
                <a:spcPct val="150000"/>
              </a:lnSpc>
            </a:pPr>
            <a:r>
              <a:rPr lang="en-US" sz="1400" b="0" i="0" dirty="0" smtClean="0">
                <a:solidFill>
                  <a:srgbClr val="BD8738"/>
                </a:solidFill>
                <a:latin typeface="EB Garamond SemiBold"/>
                <a:ea typeface="EB Garamond SemiBold"/>
                <a:cs typeface="EB Garamond SemiBold"/>
                <a:sym typeface="EB Garamond SemiBold"/>
              </a:rPr>
              <a:t>https://github.com/santhoshjava2002</a:t>
            </a:r>
          </a:p>
          <a:p>
            <a:pPr lvl="0">
              <a:lnSpc>
                <a:spcPct val="150000"/>
              </a:lnSpc>
            </a:pPr>
            <a:r>
              <a:rPr lang="en-US" sz="1400" b="0" i="0" dirty="0" smtClean="0">
                <a:solidFill>
                  <a:srgbClr val="BD8738"/>
                </a:solidFill>
                <a:latin typeface="EB Garamond SemiBold"/>
                <a:ea typeface="EB Garamond SemiBold"/>
                <a:cs typeface="EB Garamond SemiBold"/>
                <a:sym typeface="EB Garamond SemiBold"/>
              </a:rPr>
              <a:t>https://github.com/anbu57</a:t>
            </a:r>
          </a:p>
          <a:p>
            <a:pPr lvl="0">
              <a:lnSpc>
                <a:spcPct val="150000"/>
              </a:lnSpc>
            </a:pPr>
            <a:r>
              <a:rPr lang="en-US" sz="1400" b="0" i="0" dirty="0" smtClean="0">
                <a:solidFill>
                  <a:srgbClr val="BD8738"/>
                </a:solidFill>
                <a:latin typeface="EB Garamond SemiBold"/>
                <a:ea typeface="EB Garamond SemiBold"/>
                <a:cs typeface="EB Garamond SemiBold"/>
                <a:sym typeface="EB Garamond SemiBold"/>
              </a:rPr>
              <a:t>https://github.com/dsrikanth979</a:t>
            </a:r>
          </a:p>
          <a:p>
            <a:pPr lvl="0">
              <a:lnSpc>
                <a:spcPct val="150000"/>
              </a:lnSpc>
            </a:pPr>
            <a:r>
              <a:rPr lang="en-US" sz="1400" b="0" i="0" dirty="0" smtClean="0">
                <a:solidFill>
                  <a:srgbClr val="BD8738"/>
                </a:solidFill>
                <a:latin typeface="EB Garamond SemiBold"/>
                <a:ea typeface="EB Garamond SemiBold"/>
                <a:cs typeface="EB Garamond SemiBold"/>
                <a:sym typeface="EB Garamond SemiBold"/>
              </a:rPr>
              <a:t>https://github.com/Parthibaraj524</a:t>
            </a:r>
            <a:endParaRPr lang="en-US" sz="1400" b="0" i="0" dirty="0">
              <a:solidFill>
                <a:srgbClr val="BD8738"/>
              </a:solidFill>
              <a:latin typeface="EB Garamond SemiBold"/>
              <a:ea typeface="EB Garamond SemiBold"/>
              <a:cs typeface="EB Garamond SemiBold"/>
              <a:sym typeface="EB Garamond SemiBo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1"/>
          <p:cNvSpPr/>
          <p:nvPr/>
        </p:nvSpPr>
        <p:spPr>
          <a:xfrm>
            <a:off x="0" y="0"/>
            <a:ext cx="9144000" cy="5143500"/>
          </a:xfrm>
          <a:prstGeom prst="rect">
            <a:avLst/>
          </a:prstGeom>
          <a:blipFill>
            <a:blip r:embed="rId2" cstate="print"/>
            <a:stretch>
              <a:fillRect/>
            </a:stretch>
          </a:blipFill>
        </p:spPr>
        <p:txBody>
          <a:bodyPr wrap="square" lIns="0" tIns="0" rIns="0" bIns="0" rtlCol="0">
            <a:spAutoFit/>
          </a:bodyPr>
          <a:lstStyle/>
          <a:p>
            <a:endParaRPr/>
          </a:p>
        </p:txBody>
      </p:sp>
    </p:spTree>
  </p:cSld>
  <p:clrMapOvr>
    <a:masterClrMapping/>
  </p:clrMapOvr>
</p:sld>
</file>

<file path=ppt/theme/theme1.xml><?xml version="1.0" encoding="utf-8"?>
<a:theme xmlns:a="http://schemas.openxmlformats.org/drawingml/2006/main" name="Theme Office">
  <a:themeElements>
    <a:clrScheme name="Standard">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Standard">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tandard">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119</TotalTime>
  <Words>391</Words>
  <PresentationFormat>On-screen Show (16:9)</PresentationFormat>
  <Paragraphs>75</Paragraphs>
  <Slides>10</Slides>
  <Notes>0</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10</vt:i4>
      </vt:variant>
    </vt:vector>
  </HeadingPairs>
  <TitlesOfParts>
    <vt:vector size="23" baseType="lpstr">
      <vt:lpstr>Arial</vt:lpstr>
      <vt:lpstr>Calibri</vt:lpstr>
      <vt:lpstr>CHCNIJ+PublicSans-Bold</vt:lpstr>
      <vt:lpstr>Public Sans</vt:lpstr>
      <vt:lpstr>Noto Sans Symbols</vt:lpstr>
      <vt:lpstr>Times New Roman</vt:lpstr>
      <vt:lpstr>CSBFGQ+EBGaramond-Bold</vt:lpstr>
      <vt:lpstr>SJNKRS+ArialMT</vt:lpstr>
      <vt:lpstr>IDNLAK+EBGaramond-Medium</vt:lpstr>
      <vt:lpstr>LNEEUU+EBGaramond-Regular</vt:lpstr>
      <vt:lpstr>SLFRMA+PublicSans-BoldItalic</vt:lpstr>
      <vt:lpstr>EB Garamond SemiBold</vt:lpstr>
      <vt:lpstr>Theme Office</vt:lpstr>
      <vt:lpstr>Slide 1</vt:lpstr>
      <vt:lpstr>Social Media Website</vt:lpstr>
      <vt:lpstr>Slide 3</vt:lpstr>
      <vt:lpstr>Description  Social media refers to a collection of online platforms and websites that enable users to create, share, and exchange information, ideas, and multimedia content with others in a virtual, digital environment. These platforms have become an integral part of modern communication and play a significant role in connecting people, businesses, and communities around the world. Here's a more detailed description of social media:</vt:lpstr>
      <vt:lpstr>User-Generated Content:   Social media is primarily driven by user-generated content. Users can post text, images, videos, links, and other forms of media on these platforms, allowing for a wide variety of content and self-expression. Interactivity:   One of the key features of social media is interactivity. Users can engage with content by liking, sharing, commenting, or reacting to it, creating a dynamic and participatory environment. </vt:lpstr>
      <vt:lpstr>Personal Connection   People use social media to connect with friends, family, and acquaintances, regardless of geographic distances. It allows for easy communication and sharing of life updates. Information Sharing  Users can share news, articles, and information on various topics of interest, helping to spread information quickly and widely</vt:lpstr>
      <vt:lpstr>Entertainment   Social media offers a wide range of entertainment options, from funny videos to interactive games and virtual communities. Networking   Professionals use platforms like LinkedIn for job searching and networking, while businesses use social media for marketing and brand building. Expression   Many individuals use social media to express their thoughts, opinions, and creativity through text, images, videos, and more  </vt:lpstr>
      <vt:lpstr>Slide 8</vt:lpstr>
      <vt:lpstr>Slide 9</vt:lpstr>
      <vt:lpstr>Slide 10</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PowerPoint</dc:title>
  <cp:lastModifiedBy>a karthick</cp:lastModifiedBy>
  <cp:revision>10</cp:revision>
  <dcterms:modified xsi:type="dcterms:W3CDTF">2023-11-04T09:36:25Z</dcterms:modified>
</cp:coreProperties>
</file>